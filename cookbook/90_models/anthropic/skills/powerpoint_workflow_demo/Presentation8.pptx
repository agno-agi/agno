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7" r:id="rId6"/>
    <p:sldId id="261" r:id="rId7"/>
    <p:sldId id="262" r:id="rId8"/>
    <p:sldId id="263" r:id="rId9"/>
    <p:sldId id="264" r:id="rId10"/>
    <p:sldId id="258" r:id="rId11"/>
    <p:sldId id="278" r:id="rId12"/>
    <p:sldId id="266" r:id="rId13"/>
    <p:sldId id="279" r:id="rId14"/>
    <p:sldId id="268" r:id="rId15"/>
    <p:sldId id="280" r:id="rId16"/>
    <p:sldId id="270" r:id="rId17"/>
    <p:sldId id="281" r:id="rId18"/>
    <p:sldId id="260" r:id="rId19"/>
    <p:sldId id="282" r:id="rId20"/>
    <p:sldId id="283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712" y="48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9D7FC0-1DD1-4CA8-8112-A8C7F40EA6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B4FAB-25C6-4E98-9EBB-B23B53E669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8C9BE-87B7-4760-A22C-329CE4983B43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D8D7A-73C0-4D72-A352-EECD76243E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E284F-EDF0-4258-A6DB-1E971D4551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36F7D-74B8-491D-9B56-3C7529DF59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32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89C1D-9DA7-4C69-9BE5-61F988705FB7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B07D3-876E-4CE3-BE97-1887ED6BB63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9996762E-98CA-45F3-8778-C77264B50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6106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8840" y="4723772"/>
            <a:ext cx="1708784" cy="115633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510E1D-A8A6-4E4B-8055-B484B48533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" y="536574"/>
            <a:ext cx="7620000" cy="5784853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BAFCD4-E08A-4CBF-B3C6-F99D6523EB03}"/>
              </a:ext>
            </a:extLst>
          </p:cNvPr>
          <p:cNvCxnSpPr>
            <a:cxnSpLocks/>
          </p:cNvCxnSpPr>
          <p:nvPr userDrawn="1"/>
        </p:nvCxnSpPr>
        <p:spPr>
          <a:xfrm flipH="1">
            <a:off x="9768840" y="5701668"/>
            <a:ext cx="242316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480" y="1122363"/>
            <a:ext cx="4446270" cy="2387600"/>
          </a:xfrm>
        </p:spPr>
        <p:txBody>
          <a:bodyPr anchor="t">
            <a:noAutofit/>
          </a:bodyPr>
          <a:lstStyle>
            <a:lvl1pPr algn="l"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7D2B5-DEF8-4833-801A-DC6C2692B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41358" y="4162298"/>
            <a:ext cx="1993392" cy="1993392"/>
          </a:xfrm>
          <a:noFill/>
        </p:spPr>
        <p:txBody>
          <a:bodyPr spcFirstLastPara="1" wrap="square" lIns="91440" tIns="45720" rIns="91440" bIns="45720" numCol="1">
            <a:prstTxWarp prst="textCircle">
              <a:avLst/>
            </a:prstTxWarp>
            <a:spAutoFit/>
          </a:bodyPr>
          <a:lstStyle>
            <a:lvl1pPr>
              <a:defRPr lang="en-US" sz="2000" b="0" cap="all" spc="0" baseline="0" dirty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EEDAD97A-3707-4927-B006-8E1F9FA7A1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3286" y="0"/>
            <a:ext cx="65887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 lIns="0" rIns="0"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lIns="0" rIns="0"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A83D3B-4878-44A9-ADD4-00764E5E82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8718" y="523875"/>
            <a:ext cx="5657850" cy="581025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B9B857-A210-44D8-8C91-781E2B69B771}"/>
              </a:ext>
            </a:extLst>
          </p:cNvPr>
          <p:cNvCxnSpPr/>
          <p:nvPr userDrawn="1"/>
        </p:nvCxnSpPr>
        <p:spPr>
          <a:xfrm>
            <a:off x="1162050" y="2333625"/>
            <a:ext cx="0" cy="2000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BED8496-5E7C-4C78-B8EF-9319D4BF8E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  <a:noFill/>
        </p:spPr>
        <p:txBody>
          <a:bodyPr spcFirstLastPara="1" wrap="square" lIns="91440" tIns="45720" rIns="91440" bIns="45720" numCol="1">
            <a:prstTxWarp prst="textCircle">
              <a:avLst/>
            </a:prstTxWarp>
            <a:spAutoFit/>
          </a:bodyPr>
          <a:lstStyle>
            <a:lvl1pPr>
              <a:defRPr lang="en-US" sz="2000" b="0" cap="all" spc="0" baseline="0" dirty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ree, nature, spring&#10;&#10;Description automatically generated">
            <a:extLst>
              <a:ext uri="{FF2B5EF4-FFF2-40B4-BE49-F238E27FC236}">
                <a16:creationId xmlns:a16="http://schemas.microsoft.com/office/drawing/2014/main" id="{560C5C7D-BBDC-415E-88A8-4BB8367C6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381000" y="381000"/>
            <a:ext cx="6858000" cy="60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4244" y="473869"/>
            <a:ext cx="4603750" cy="1226572"/>
          </a:xfrm>
        </p:spPr>
        <p:txBody>
          <a:bodyPr lIns="0" anchor="b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38815-B9AF-4BA5-B8D6-3311C494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5800" y="2160591"/>
            <a:ext cx="4298950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>
            <a:lvl1pPr algn="l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140FD9-A97C-40A2-A8B8-84D503A3C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736" y="525463"/>
            <a:ext cx="4962526" cy="5807075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83CD18-0EF9-4AC6-87C8-0A5C8F9F2CA9}"/>
              </a:ext>
            </a:extLst>
          </p:cNvPr>
          <p:cNvCxnSpPr>
            <a:cxnSpLocks/>
          </p:cNvCxnSpPr>
          <p:nvPr userDrawn="1"/>
        </p:nvCxnSpPr>
        <p:spPr>
          <a:xfrm>
            <a:off x="6743700" y="1859273"/>
            <a:ext cx="0" cy="436055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B506012-914F-463E-9582-CE719EAD470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035800" y="1859273"/>
            <a:ext cx="4298950" cy="33466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B07FC46-2A60-4E96-A309-C03E813082E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035800" y="3271768"/>
            <a:ext cx="4298950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0CB8BDA-C60A-4110-9D29-E59BA67AAD0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035800" y="2970450"/>
            <a:ext cx="4298950" cy="33466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B6CAB0-C8FA-4599-AB8C-A2AEED800C6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035800" y="4382945"/>
            <a:ext cx="4298950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59D317-0B72-4047-84EB-EF154C96B97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035800" y="4081627"/>
            <a:ext cx="4298950" cy="33466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02DCFFD-63E0-4E21-908F-7B3242F6AAB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035800" y="5494123"/>
            <a:ext cx="4298950" cy="725702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7E7A4C-470C-4831-907E-3338C5B817F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035800" y="5192805"/>
            <a:ext cx="4298950" cy="33466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1075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1075" y="4644390"/>
            <a:ext cx="1980000" cy="149008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31025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31025" y="4644390"/>
            <a:ext cx="1980000" cy="149008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80975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80975" y="4644390"/>
            <a:ext cx="1980000" cy="149008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F934EF9-BF0B-4A73-8F03-1BA80EE0608B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1227175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182E807-0C2E-4BC5-BF7E-526F4625C96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84088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8B21E869-F893-4182-B4C9-9C6D4C1E709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84087" y="4644390"/>
            <a:ext cx="1980000" cy="149008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Content Placeholder 15">
            <a:extLst>
              <a:ext uri="{FF2B5EF4-FFF2-40B4-BE49-F238E27FC236}">
                <a16:creationId xmlns:a16="http://schemas.microsoft.com/office/drawing/2014/main" id="{B86A7EE6-1FE6-48B5-8747-AB276F95128F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3977125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C937C49-EB73-4979-B8CF-CACF0EA242DA}"/>
              </a:ext>
            </a:extLst>
          </p:cNvPr>
          <p:cNvSpPr>
            <a:spLocks noGrp="1"/>
          </p:cNvSpPr>
          <p:nvPr>
            <p:ph sz="quarter" idx="50"/>
          </p:nvPr>
        </p:nvSpPr>
        <p:spPr>
          <a:xfrm>
            <a:off x="6727075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5" name="Content Placeholder 15">
            <a:extLst>
              <a:ext uri="{FF2B5EF4-FFF2-40B4-BE49-F238E27FC236}">
                <a16:creationId xmlns:a16="http://schemas.microsoft.com/office/drawing/2014/main" id="{5B5AE825-32F0-4FF5-AD58-C846CFE482B5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9430188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FC193C-7F61-40CA-B97F-DE9D338DC965}"/>
              </a:ext>
            </a:extLst>
          </p:cNvPr>
          <p:cNvCxnSpPr>
            <a:cxnSpLocks/>
          </p:cNvCxnSpPr>
          <p:nvPr userDrawn="1"/>
        </p:nvCxnSpPr>
        <p:spPr>
          <a:xfrm>
            <a:off x="1513875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86C94F-FF53-46BA-B125-57E5D572D064}"/>
              </a:ext>
            </a:extLst>
          </p:cNvPr>
          <p:cNvCxnSpPr>
            <a:cxnSpLocks/>
          </p:cNvCxnSpPr>
          <p:nvPr userDrawn="1"/>
        </p:nvCxnSpPr>
        <p:spPr>
          <a:xfrm>
            <a:off x="4248911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C882BF-032B-4B67-AF3E-CF79FBCC4FD4}"/>
              </a:ext>
            </a:extLst>
          </p:cNvPr>
          <p:cNvCxnSpPr>
            <a:cxnSpLocks/>
          </p:cNvCxnSpPr>
          <p:nvPr userDrawn="1"/>
        </p:nvCxnSpPr>
        <p:spPr>
          <a:xfrm>
            <a:off x="6983947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750C30-59A4-4345-B670-0030A6828B14}"/>
              </a:ext>
            </a:extLst>
          </p:cNvPr>
          <p:cNvCxnSpPr>
            <a:cxnSpLocks/>
          </p:cNvCxnSpPr>
          <p:nvPr userDrawn="1"/>
        </p:nvCxnSpPr>
        <p:spPr>
          <a:xfrm>
            <a:off x="9718983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3E2CAEA6-2840-4C2D-B6E2-A17A0A9F06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04800" cy="6858000"/>
          </a:xfrm>
          <a:prstGeom prst="rect">
            <a:avLst/>
          </a:prstGeom>
        </p:spPr>
      </p:pic>
      <p:pic>
        <p:nvPicPr>
          <p:cNvPr id="36" name="Picture 35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7C270418-FBBE-4523-812C-440495951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87200" y="0"/>
            <a:ext cx="304800" cy="6858000"/>
          </a:xfrm>
          <a:prstGeom prst="rect">
            <a:avLst/>
          </a:prstGeom>
        </p:spPr>
      </p:pic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4F3022F7-3702-4466-9986-D2645E60F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ody of water with trees around it&#10;&#10;Description automatically generated with medium confidence">
            <a:extLst>
              <a:ext uri="{FF2B5EF4-FFF2-40B4-BE49-F238E27FC236}">
                <a16:creationId xmlns:a16="http://schemas.microsoft.com/office/drawing/2014/main" id="{4FA989F3-E380-4D92-BD33-21366C4663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0" y="0"/>
            <a:ext cx="5029200" cy="6858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7333B9-F523-4307-B469-F66B0C6E9D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8600" y="508000"/>
            <a:ext cx="4114800" cy="584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42CD466-114C-48B9-82B3-DC830491B35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6500" y="2704606"/>
            <a:ext cx="25896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1758243-C023-46F4-AA0D-115263FADC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6500" y="3128324"/>
            <a:ext cx="2589600" cy="86142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CE54372-39E4-429B-909F-1B39307854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6500" y="4530478"/>
            <a:ext cx="25896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80615B5-AB0C-4460-96CC-11C15E7D74F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6500" y="4954196"/>
            <a:ext cx="2589600" cy="86142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9C3E351-39C7-4529-B6CD-B0EF6A4BB0D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05900" y="2704606"/>
            <a:ext cx="25896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762CB53-1EBD-4B1E-8562-33910E88334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5900" y="3128324"/>
            <a:ext cx="2589600" cy="86142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F9CB6CB-1D5E-4484-BDCC-67FDE981AA7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5900" y="4530478"/>
            <a:ext cx="25896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8229F1D8-00A2-407C-974C-4F22FE98AB1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5900" y="4954196"/>
            <a:ext cx="2589600" cy="861420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7E9D7FB7-F0D3-47C2-95E6-B2D047FF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C73EC134-FDBF-4113-B825-23125EE8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12C2DA51-699D-4FD6-9B2A-2FA0915C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800" y="473869"/>
            <a:ext cx="4603750" cy="12265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38815-B9AF-4BA5-B8D6-3311C494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5828" y="2468880"/>
            <a:ext cx="3888921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0C5C7D-BBDC-415E-88A8-4BB8367C6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8467" y="0"/>
            <a:ext cx="304268" cy="685800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140FD9-A97C-40A2-A8B8-84D503A3C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358466" cy="6857999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83CD18-0EF9-4AC6-87C8-0A5C8F9F2CA9}"/>
              </a:ext>
            </a:extLst>
          </p:cNvPr>
          <p:cNvCxnSpPr>
            <a:cxnSpLocks/>
          </p:cNvCxnSpPr>
          <p:nvPr userDrawn="1"/>
        </p:nvCxnSpPr>
        <p:spPr>
          <a:xfrm>
            <a:off x="7256237" y="2928256"/>
            <a:ext cx="0" cy="69668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B506012-914F-463E-9582-CE719EAD470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117447" y="2468617"/>
            <a:ext cx="410028" cy="45963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1.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B07FC46-2A60-4E96-A309-C03E813082E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445828" y="3808800"/>
            <a:ext cx="3888921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B6CAB0-C8FA-4599-AB8C-A2AEED800C6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445828" y="5101562"/>
            <a:ext cx="3888921" cy="725701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CE75E29-1E56-4BC2-9665-A103D29D944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117447" y="3808800"/>
            <a:ext cx="410028" cy="45963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2.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4A65D09-92B8-4044-9560-43DACBD6E36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117447" y="5101562"/>
            <a:ext cx="410028" cy="45963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3.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F3E8EA-AD86-4D53-99F2-514C73069694}"/>
              </a:ext>
            </a:extLst>
          </p:cNvPr>
          <p:cNvCxnSpPr>
            <a:cxnSpLocks/>
          </p:cNvCxnSpPr>
          <p:nvPr userDrawn="1"/>
        </p:nvCxnSpPr>
        <p:spPr>
          <a:xfrm>
            <a:off x="7256237" y="4268439"/>
            <a:ext cx="0" cy="69668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A21C585D-982F-4820-83DB-2EC69C55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CF6BFE9E-EF76-481D-9C8A-7AB36DF5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>
            <a:lvl1pPr algn="l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D8FBCDE-F8D9-49DC-B34B-2D3463C5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5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9996762E-98CA-45F3-8778-C77264B50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1"/>
          <a:stretch/>
        </p:blipFill>
        <p:spPr>
          <a:xfrm>
            <a:off x="0" y="0"/>
            <a:ext cx="4446270" cy="68797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BAFCD4-E08A-4CBF-B3C6-F99D6523EB03}"/>
              </a:ext>
            </a:extLst>
          </p:cNvPr>
          <p:cNvCxnSpPr>
            <a:cxnSpLocks/>
          </p:cNvCxnSpPr>
          <p:nvPr userDrawn="1"/>
        </p:nvCxnSpPr>
        <p:spPr>
          <a:xfrm flipH="1">
            <a:off x="3752850" y="4047144"/>
            <a:ext cx="843915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DB9F2E2-2FA7-41DA-91AC-B4A535BFF534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2542032" y="1033272"/>
            <a:ext cx="4690872" cy="4690872"/>
          </a:xfrm>
          <a:noFill/>
        </p:spPr>
        <p:txBody>
          <a:bodyPr spcFirstLastPara="1" wrap="square" lIns="91440" tIns="45720" rIns="91440" bIns="45720" numCol="1">
            <a:prstTxWarp prst="textCircle">
              <a:avLst/>
            </a:prstTxWarp>
            <a:spAutoFit/>
          </a:bodyPr>
          <a:lstStyle>
            <a:lvl1pPr>
              <a:defRPr lang="en-US" sz="3200" b="0" cap="all" spc="0" baseline="0" dirty="0">
                <a:ln w="0"/>
                <a:solidFill>
                  <a:schemeClr val="accent1">
                    <a:lumMod val="75000"/>
                    <a:alpha val="7000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558" y="2171699"/>
            <a:ext cx="7581900" cy="1681163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088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E72A4962-4D36-46EC-8ABF-17FD9918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230D65-DB5A-4BE3-9C4F-2537D5FDECB5}"/>
              </a:ext>
            </a:extLst>
          </p:cNvPr>
          <p:cNvSpPr/>
          <p:nvPr userDrawn="1"/>
        </p:nvSpPr>
        <p:spPr>
          <a:xfrm>
            <a:off x="304800" y="365125"/>
            <a:ext cx="11582400" cy="6127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56050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56050" y="4644390"/>
            <a:ext cx="1980000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06000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06000" y="4644390"/>
            <a:ext cx="1980000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55950" y="3971432"/>
            <a:ext cx="198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55950" y="4644390"/>
            <a:ext cx="1980000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F934EF9-BF0B-4A73-8F03-1BA80EE0608B}"/>
              </a:ext>
            </a:extLst>
          </p:cNvPr>
          <p:cNvSpPr>
            <a:spLocks noGrp="1"/>
          </p:cNvSpPr>
          <p:nvPr>
            <p:ph sz="quarter" idx="46"/>
          </p:nvPr>
        </p:nvSpPr>
        <p:spPr>
          <a:xfrm>
            <a:off x="2602150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Content Placeholder 15">
            <a:extLst>
              <a:ext uri="{FF2B5EF4-FFF2-40B4-BE49-F238E27FC236}">
                <a16:creationId xmlns:a16="http://schemas.microsoft.com/office/drawing/2014/main" id="{B86A7EE6-1FE6-48B5-8747-AB276F95128F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5352100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C937C49-EB73-4979-B8CF-CACF0EA242DA}"/>
              </a:ext>
            </a:extLst>
          </p:cNvPr>
          <p:cNvSpPr>
            <a:spLocks noGrp="1"/>
          </p:cNvSpPr>
          <p:nvPr>
            <p:ph sz="quarter" idx="50"/>
          </p:nvPr>
        </p:nvSpPr>
        <p:spPr>
          <a:xfrm>
            <a:off x="8102050" y="2209231"/>
            <a:ext cx="1487800" cy="1487801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FC193C-7F61-40CA-B97F-DE9D338DC965}"/>
              </a:ext>
            </a:extLst>
          </p:cNvPr>
          <p:cNvCxnSpPr>
            <a:cxnSpLocks/>
          </p:cNvCxnSpPr>
          <p:nvPr userDrawn="1"/>
        </p:nvCxnSpPr>
        <p:spPr>
          <a:xfrm>
            <a:off x="2888850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86C94F-FF53-46BA-B125-57E5D572D064}"/>
              </a:ext>
            </a:extLst>
          </p:cNvPr>
          <p:cNvCxnSpPr>
            <a:cxnSpLocks/>
          </p:cNvCxnSpPr>
          <p:nvPr userDrawn="1"/>
        </p:nvCxnSpPr>
        <p:spPr>
          <a:xfrm>
            <a:off x="5638800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C882BF-032B-4B67-AF3E-CF79FBCC4FD4}"/>
              </a:ext>
            </a:extLst>
          </p:cNvPr>
          <p:cNvCxnSpPr>
            <a:cxnSpLocks/>
          </p:cNvCxnSpPr>
          <p:nvPr userDrawn="1"/>
        </p:nvCxnSpPr>
        <p:spPr>
          <a:xfrm>
            <a:off x="8358922" y="3712844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148E808A-AB67-4B52-B35C-7487342F4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29" name="Slide Number Placeholder 6">
            <a:extLst>
              <a:ext uri="{FF2B5EF4-FFF2-40B4-BE49-F238E27FC236}">
                <a16:creationId xmlns:a16="http://schemas.microsoft.com/office/drawing/2014/main" id="{88B2564D-D1B9-47FE-9DC9-1BB5316148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E250C28C-FA72-4324-9DA9-3AE75077D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02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 with 2 pictur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0C5C7D-BBDC-415E-88A8-4BB8367C6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9025" y="0"/>
            <a:ext cx="4752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869"/>
            <a:ext cx="4603750" cy="12265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38815-B9AF-4BA5-B8D6-3311C494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2260384"/>
            <a:ext cx="2838444" cy="1226572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140FD9-A97C-40A2-A8B8-84D503A3C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3213" y="525463"/>
            <a:ext cx="3784599" cy="2629175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83CD18-0EF9-4AC6-87C8-0A5C8F9F2CA9}"/>
              </a:ext>
            </a:extLst>
          </p:cNvPr>
          <p:cNvCxnSpPr>
            <a:cxnSpLocks/>
          </p:cNvCxnSpPr>
          <p:nvPr userDrawn="1"/>
        </p:nvCxnSpPr>
        <p:spPr>
          <a:xfrm>
            <a:off x="947991" y="3459082"/>
            <a:ext cx="56692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B506012-914F-463E-9582-CE719EAD470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57251" y="2260384"/>
            <a:ext cx="2381245" cy="524308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B07FC46-2A60-4E96-A309-C03E813082E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771900" y="3652757"/>
            <a:ext cx="2838444" cy="1226572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0CB8BDA-C60A-4110-9D29-E59BA67AAD0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57251" y="3652757"/>
            <a:ext cx="2381245" cy="524308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B6CAB0-C8FA-4599-AB8C-A2AEED800C6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71900" y="5054655"/>
            <a:ext cx="2838444" cy="1226572"/>
          </a:xfrm>
        </p:spPr>
        <p:txBody>
          <a:bodyPr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59D317-0B72-4047-84EB-EF154C96B97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57251" y="5054655"/>
            <a:ext cx="2381245" cy="524308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974B9287-7FD2-4AE5-BA59-7B3E9C8B5FC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23213" y="3632600"/>
            <a:ext cx="3784599" cy="2629175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20A735-5706-4C08-8345-E542A71DCF4C}"/>
              </a:ext>
            </a:extLst>
          </p:cNvPr>
          <p:cNvCxnSpPr>
            <a:cxnSpLocks/>
          </p:cNvCxnSpPr>
          <p:nvPr userDrawn="1"/>
        </p:nvCxnSpPr>
        <p:spPr>
          <a:xfrm>
            <a:off x="947991" y="4873016"/>
            <a:ext cx="56692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02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ulle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E72A4962-4D36-46EC-8ABF-17FD9918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230D65-DB5A-4BE3-9C4F-2537D5FDECB5}"/>
              </a:ext>
            </a:extLst>
          </p:cNvPr>
          <p:cNvSpPr/>
          <p:nvPr userDrawn="1"/>
        </p:nvSpPr>
        <p:spPr>
          <a:xfrm>
            <a:off x="1099958" y="2719393"/>
            <a:ext cx="3073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47229" y="3106128"/>
            <a:ext cx="2178858" cy="745593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47229" y="4333045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FC193C-7F61-40CA-B97F-DE9D338DC965}"/>
              </a:ext>
            </a:extLst>
          </p:cNvPr>
          <p:cNvCxnSpPr>
            <a:cxnSpLocks/>
          </p:cNvCxnSpPr>
          <p:nvPr userDrawn="1"/>
        </p:nvCxnSpPr>
        <p:spPr>
          <a:xfrm>
            <a:off x="2179458" y="4036859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A93A97B-BCBE-41A6-8F7C-75F49A3E9414}"/>
              </a:ext>
            </a:extLst>
          </p:cNvPr>
          <p:cNvSpPr/>
          <p:nvPr userDrawn="1"/>
        </p:nvSpPr>
        <p:spPr>
          <a:xfrm>
            <a:off x="8043609" y="2719393"/>
            <a:ext cx="3073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740CCCA-3569-463C-B2AC-A5A7F0D497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0880" y="3106128"/>
            <a:ext cx="2178858" cy="745593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8CE8B97-7C16-44A0-BFB9-F96C598432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90880" y="4333045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2C4107-B380-4B54-A179-81B6EE4FE61C}"/>
              </a:ext>
            </a:extLst>
          </p:cNvPr>
          <p:cNvCxnSpPr>
            <a:cxnSpLocks/>
          </p:cNvCxnSpPr>
          <p:nvPr userDrawn="1"/>
        </p:nvCxnSpPr>
        <p:spPr>
          <a:xfrm>
            <a:off x="9123109" y="4036859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DCE194-0C0A-4B39-AC60-F38FF6DF9302}"/>
              </a:ext>
            </a:extLst>
          </p:cNvPr>
          <p:cNvSpPr/>
          <p:nvPr userDrawn="1"/>
        </p:nvSpPr>
        <p:spPr>
          <a:xfrm>
            <a:off x="4559300" y="2719393"/>
            <a:ext cx="3073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89436B85-0AC5-4B9C-991F-09BD4B25D6D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6571" y="3106128"/>
            <a:ext cx="2178858" cy="745593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5815370-788B-420F-8599-14DD0C007C0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06571" y="4333045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B9BE1E5-4A83-4CB5-9052-BC1A7677D705}"/>
              </a:ext>
            </a:extLst>
          </p:cNvPr>
          <p:cNvCxnSpPr>
            <a:cxnSpLocks/>
          </p:cNvCxnSpPr>
          <p:nvPr userDrawn="1"/>
        </p:nvCxnSpPr>
        <p:spPr>
          <a:xfrm>
            <a:off x="5638800" y="4036859"/>
            <a:ext cx="9144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2">
            <a:extLst>
              <a:ext uri="{FF2B5EF4-FFF2-40B4-BE49-F238E27FC236}">
                <a16:creationId xmlns:a16="http://schemas.microsoft.com/office/drawing/2014/main" id="{C3697011-E6CC-4901-995E-295A6B2A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EA6FBB3A-E08E-4C9D-A6BC-A4437629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741F3B34-2439-43D5-886C-2652B0BF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0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CF7930-2AA6-47D6-A0F2-438A1BDA76F6}"/>
              </a:ext>
            </a:extLst>
          </p:cNvPr>
          <p:cNvSpPr/>
          <p:nvPr userDrawn="1"/>
        </p:nvSpPr>
        <p:spPr>
          <a:xfrm>
            <a:off x="7551735" y="0"/>
            <a:ext cx="464026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5779ED-1BC5-487B-8B42-16D736E7A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7467" y="0"/>
            <a:ext cx="304268" cy="68580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5BF40A6-F21A-4A84-8F8C-11A4BBCD9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347256"/>
            <a:ext cx="3975804" cy="1829706"/>
          </a:xfrm>
        </p:spPr>
        <p:txBody>
          <a:bodyPr lIns="0" rIns="0"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CCE84A-20A5-4E69-9CF9-78FA30B351AC}"/>
              </a:ext>
            </a:extLst>
          </p:cNvPr>
          <p:cNvCxnSpPr>
            <a:cxnSpLocks/>
          </p:cNvCxnSpPr>
          <p:nvPr userDrawn="1"/>
        </p:nvCxnSpPr>
        <p:spPr>
          <a:xfrm>
            <a:off x="1162050" y="2333625"/>
            <a:ext cx="0" cy="129131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A7D45E80-A572-4F1F-A6DC-46C7E86A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49" y="523875"/>
            <a:ext cx="4514849" cy="1514476"/>
          </a:xfrm>
        </p:spPr>
        <p:txBody>
          <a:bodyPr lIns="0" rIns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EEF521D-CBF5-4B15-9226-23563A8C3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61346" y="3956731"/>
            <a:ext cx="3975804" cy="390525"/>
          </a:xfrm>
        </p:spPr>
        <p:txBody>
          <a:bodyPr lIns="0">
            <a:no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85B4523-BC07-42A3-8A4D-5E2D9CAE0DA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20887" y="2856735"/>
            <a:ext cx="3902664" cy="712731"/>
          </a:xfrm>
        </p:spPr>
        <p:txBody>
          <a:bodyPr lIns="0" rIns="0"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534AB7F6-3491-4274-B3F2-F871EFB720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20183" y="2542410"/>
            <a:ext cx="3902664" cy="390525"/>
          </a:xfrm>
        </p:spPr>
        <p:txBody>
          <a:bodyPr lIns="0">
            <a:no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B1BC6A9-C15F-4476-80D3-8E9A9A98B2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920887" y="4162990"/>
            <a:ext cx="3902664" cy="712731"/>
          </a:xfrm>
        </p:spPr>
        <p:txBody>
          <a:bodyPr lIns="0" rIns="0"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9021676-27CC-4430-A253-24147747F4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20183" y="3848665"/>
            <a:ext cx="3902664" cy="390525"/>
          </a:xfrm>
        </p:spPr>
        <p:txBody>
          <a:bodyPr lIns="0">
            <a:no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DFC7FE-62FA-4943-BCDD-808A7ABBF21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920887" y="5469245"/>
            <a:ext cx="3902664" cy="712731"/>
          </a:xfrm>
        </p:spPr>
        <p:txBody>
          <a:bodyPr lIns="0" rIns="0"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0CD399E-155D-416D-8EF4-4190995DC1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20183" y="5154920"/>
            <a:ext cx="3902664" cy="390525"/>
          </a:xfrm>
        </p:spPr>
        <p:txBody>
          <a:bodyPr lIns="0">
            <a:no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34648533-B8C6-451A-A70F-831EBFABA6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20184" y="1652142"/>
            <a:ext cx="3902664" cy="390525"/>
          </a:xfrm>
        </p:spPr>
        <p:txBody>
          <a:bodyPr lIns="0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DDABA0-16CE-4E19-BE69-D9B7A7E49D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none" spc="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EFF9B48-1E60-4470-A40A-EA2726265B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none" spc="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86CA7A-CC77-44B3-A1CA-BBA33F221C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632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none" spc="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2132A9FB-F78E-4979-8041-C3FA3A93D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A01AEF9-4E0C-4384-AAB1-9B179A8791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8B5B546-0DF9-45E4-A795-FE967C5ECD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68C7EB3-2B31-41FF-89E8-F0EBD7662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6C27F8B-B209-493E-BAB8-FDDE2157DB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84BDCF5-6254-4805-96B8-A31EE31D46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64990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none" spc="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963DDA-51A3-4DBA-B9AB-9476FA302735}"/>
              </a:ext>
            </a:extLst>
          </p:cNvPr>
          <p:cNvCxnSpPr>
            <a:cxnSpLocks/>
          </p:cNvCxnSpPr>
          <p:nvPr userDrawn="1"/>
        </p:nvCxnSpPr>
        <p:spPr>
          <a:xfrm>
            <a:off x="3762680" y="3774842"/>
            <a:ext cx="4683649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CA1E21-932F-47C4-A095-3D682884EC3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8A636DFD-D98E-4314-BD69-68D2528C01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8897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 cap="none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pic>
        <p:nvPicPr>
          <p:cNvPr id="4" name="Picture 3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7036201C-6A4F-4D68-A5F0-E6E149C82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04800" cy="6858000"/>
          </a:xfrm>
          <a:prstGeom prst="rect">
            <a:avLst/>
          </a:prstGeom>
        </p:spPr>
      </p:pic>
      <p:pic>
        <p:nvPicPr>
          <p:cNvPr id="5" name="Picture 4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1FDEBCE5-FECF-4290-856D-FCF83DC52E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87200" y="0"/>
            <a:ext cx="304800" cy="6858000"/>
          </a:xfrm>
          <a:prstGeom prst="rect">
            <a:avLst/>
          </a:prstGeom>
        </p:spPr>
      </p:pic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84F6DC17-DADB-40C5-8E7F-38D27EF3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14F47C4C-5E74-433D-AB6E-74585238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7A9C981C-6AC9-4F33-9E4B-D1117A82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3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95641-1C03-493E-ACE5-E9354716EF89}"/>
              </a:ext>
            </a:extLst>
          </p:cNvPr>
          <p:cNvCxnSpPr>
            <a:cxnSpLocks/>
          </p:cNvCxnSpPr>
          <p:nvPr userDrawn="1"/>
        </p:nvCxnSpPr>
        <p:spPr>
          <a:xfrm>
            <a:off x="1295400" y="3012972"/>
            <a:ext cx="9601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B699B4-D7C4-43CC-AC50-5547F9C3C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675"/>
            <a:ext cx="10515600" cy="365125"/>
          </a:xfrm>
        </p:spPr>
        <p:txBody>
          <a:bodyPr/>
          <a:lstStyle>
            <a:lvl1pPr marL="0" indent="0" algn="ctr">
              <a:buNone/>
              <a:defRPr lang="en-US" sz="20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accent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CCF6F7-DBE5-45B0-9C0D-6E34E9D9AE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January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D7EF43C7-231B-47B6-9B8E-A499BF6E79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4927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February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976C642-2512-45C1-AC66-B501FB870F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3504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March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9947EF49-FB58-4C6A-8C0A-D2D680B7A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2081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April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9C7C07AF-3FF2-44C6-9D32-B57CEE6E12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30121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June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08859D92-084B-4AAC-A35E-9997F82C50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50658" y="2647722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May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99D4720-091C-4EB1-BC99-606EB779347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5070508"/>
            <a:ext cx="9601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A88A27CA-6841-483D-BB86-43C77BB6A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6350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July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68ED6D85-DDFA-46B4-BA5A-892D7ED6CB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44927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August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D248DAEC-4E3D-4A0E-8EE4-64C5E83372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3504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September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BE3E7173-46E0-4647-AF6E-3D3F923D7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82081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October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383EE998-C462-4F32-BF67-164C6CB58F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0121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December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2A189DDD-670F-46A8-8840-E981413F43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50658" y="4705258"/>
            <a:ext cx="1725930" cy="365114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November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40CE67A-DD2D-46B5-B05E-82306D2FCB0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8463" y="3119254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B6DC8F1-E86C-4CDB-9265-94B50CFEF9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24194" y="3119254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75CE6662-3A66-45A1-9FCC-9BBA8BE55B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55617" y="5176789"/>
            <a:ext cx="2178858" cy="1116118"/>
          </a:xfrm>
        </p:spPr>
        <p:txBody>
          <a:bodyPr>
            <a:normAutofit/>
          </a:bodyPr>
          <a:lstStyle>
            <a:lvl1pPr marL="0" indent="0" algn="ctr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89DF173C-4274-4F9C-BC1A-F47863A470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5BE446B2-5954-4D98-A1D5-7BD2F202DA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4D7E30F2-3820-4445-A623-44B83424C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23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FFB265-53A1-4F4A-93D5-B32472F0B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57499"/>
            <a:ext cx="5905500" cy="33194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E4F1F9-8369-4C88-9B00-48ACF4934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0" y="2857499"/>
            <a:ext cx="4114800" cy="33194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593D2C-0F56-450C-86CD-A019ADD07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73300"/>
            <a:ext cx="5905500" cy="584199"/>
          </a:xfrm>
        </p:spPr>
        <p:txBody>
          <a:bodyPr>
            <a:normAutofit/>
          </a:bodyPr>
          <a:lstStyle>
            <a:lvl1pPr marL="0" indent="0">
              <a:buNone/>
              <a:defRPr sz="20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12AF4CF-A37C-4010-9731-C33A8197C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39000" y="2273300"/>
            <a:ext cx="4114800" cy="584199"/>
          </a:xfrm>
        </p:spPr>
        <p:txBody>
          <a:bodyPr>
            <a:normAutofit/>
          </a:bodyPr>
          <a:lstStyle>
            <a:lvl1pPr marL="0" indent="0">
              <a:buNone/>
              <a:defRPr sz="20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8CD853FB-B552-43EE-A55D-E13ADC8B6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04800" cy="6858000"/>
          </a:xfrm>
          <a:prstGeom prst="rect">
            <a:avLst/>
          </a:prstGeom>
        </p:spPr>
      </p:pic>
      <p:pic>
        <p:nvPicPr>
          <p:cNvPr id="14" name="Picture 13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C95FC6BE-3777-46FA-A4A2-6C667016B8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87200" y="0"/>
            <a:ext cx="304800" cy="6858000"/>
          </a:xfrm>
          <a:prstGeom prst="rect">
            <a:avLst/>
          </a:prstGeom>
        </p:spPr>
      </p:pic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DD19217A-B411-49D0-84C7-16BA3F21FE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463675"/>
            <a:ext cx="10515600" cy="365125"/>
          </a:xfrm>
        </p:spPr>
        <p:txBody>
          <a:bodyPr/>
          <a:lstStyle>
            <a:lvl1pPr marL="0" indent="0" algn="l">
              <a:buNone/>
              <a:defRPr lang="en-US" sz="2000" kern="120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algn="l">
              <a:defRPr>
                <a:solidFill>
                  <a:schemeClr val="accent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EA82BD0B-4BD1-40BF-865D-C6A32C6406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C34C6F6C-1D22-4E30-BC57-12F1408D7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4B53078-6930-4337-8412-A0228A7BEF3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585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picture containing outdoor, sky, nature, dune&#10;&#10;Description automatically generated">
            <a:extLst>
              <a:ext uri="{FF2B5EF4-FFF2-40B4-BE49-F238E27FC236}">
                <a16:creationId xmlns:a16="http://schemas.microsoft.com/office/drawing/2014/main" id="{B184911A-D23E-4AE4-AA9D-D9351F3961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9640" y="3995381"/>
            <a:ext cx="10332720" cy="12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B058FB8-1105-4C4A-BC46-FC5263C51B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F15AF40-266A-4348-9B27-CBABA9E3D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CD58177-9C19-4D24-9FFF-58EECDE765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BE7486E-0AF8-4124-830C-420FA1F92BB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A74A1-7AA0-4CCA-91E2-173B9CC7AFD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28FF9BA-B29D-439F-A4A3-BFE6BC8B45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71CD701-6647-40A3-B851-9CA1C8D3566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6A8BFC1-7FA0-4CAA-97FD-9A01BA00D2D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0C2842-0D4E-486C-A993-1D0D75D494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59B4F0E-8F16-42CC-8346-A00DADA20E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9D7695C-A738-4500-B476-95B5729911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3B984CB-A282-404B-8B4C-8FEE071EB27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F337119-92E1-4057-81DB-A0B6F5747A3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88EEFA1-753B-4733-8686-F3A10A131B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7B05348-942A-4131-9A3F-479F3F9A9A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B3C00ACD-1C1A-4069-B8CB-DB8CA8A0B8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A74A790-DCD1-46EB-8261-607BEF403CC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7825B37-7E7B-4D73-967B-AA07F007C0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A6EB697-D6DD-4343-BAC9-49514C5D51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9E70367E-C969-4F8A-AC6F-5E7AC2C0BC5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30575E90-7198-47A0-805F-3162B2386DC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ED2274A-F2D9-4427-99BF-1D78414DBCD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31D0A8C-CD54-4D10-A8F5-97CF139C25D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AFC15A55-7462-4E94-8DA3-5549FE7AAC8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4D808E3A-2D47-4508-B487-97E7B840A17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B7FEF61-4C66-42E8-81B2-CB838535F7E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4080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A88965D1-1506-43AA-A066-5CA60D2ADF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345AFDE-8D65-480B-9D80-F8B2868463F1}"/>
              </a:ext>
            </a:extLst>
          </p:cNvPr>
          <p:cNvSpPr/>
          <p:nvPr userDrawn="1"/>
        </p:nvSpPr>
        <p:spPr>
          <a:xfrm>
            <a:off x="304800" y="365125"/>
            <a:ext cx="11582400" cy="6127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2F91974B-F58F-4C8E-8D68-7DBAD42BE6C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1690688"/>
            <a:ext cx="10515600" cy="39846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D055213-4B28-4DFA-B283-C64E50841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4C9E28E-8406-48BC-8F90-9483DF3E2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592DA0A-15A7-4B7C-BDC1-6C40C548B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51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92722E05-40B7-4586-82D6-7C5F7330DF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" y="0"/>
            <a:ext cx="12207240" cy="3803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7165"/>
            <a:ext cx="10515600" cy="100425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39DA59-3D52-4E19-81F6-B5ABF87E1D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4520" y="518474"/>
            <a:ext cx="2743200" cy="2743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C9FFDAF-229D-4FED-B81C-20FB820A0E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47720" y="518474"/>
            <a:ext cx="2743200" cy="2743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DEC1D1B6-BF8B-41EF-B2E1-ED1471B19F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0920" y="518474"/>
            <a:ext cx="2743200" cy="2743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686FC79D-5E8C-4928-AEB6-5F8C282E3C7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34120" y="518474"/>
            <a:ext cx="2743200" cy="2743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BB6C15B-8373-47B7-B8A7-194BD68DDF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4520" y="5229500"/>
            <a:ext cx="2743200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ZA" sz="1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1C257EA-B130-4866-8A65-1EF1173716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4520" y="5693075"/>
            <a:ext cx="2743200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2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9C2B29A0-592A-4DF1-809E-B5265DACA3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34120" y="5224905"/>
            <a:ext cx="2753360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203C6378-59CC-47B4-9E9F-BAC6C2C389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4120" y="5688480"/>
            <a:ext cx="2753360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8AA424-5B3D-40C4-BBDC-2C338C0385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47720" y="5229500"/>
            <a:ext cx="2743200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B9AE277D-FC5E-4B64-A3FA-A9BD4919D9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47720" y="5693075"/>
            <a:ext cx="2743200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4FC21568-200C-4310-B462-B36358C4D23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1082" y="5229500"/>
            <a:ext cx="2733038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24FCA02-7F7F-4B5F-833A-CE244C22096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01082" y="5693075"/>
            <a:ext cx="2733038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2658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722E05-40B7-4586-82D6-7C5F7330DF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3740" y="1737360"/>
            <a:ext cx="10764520" cy="174125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39DA59-3D52-4E19-81F6-B5ABF87E1D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4561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C9FFDAF-229D-4FED-B81C-20FB820A0E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18029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DEC1D1B6-BF8B-41EF-B2E1-ED1471B19F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11497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686FC79D-5E8C-4928-AEB6-5F8C282E3C7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04965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BB6C15B-8373-47B7-B8A7-194BD68DDF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9551" y="3921355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1C257EA-B130-4866-8A65-1EF1173716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9551" y="4354090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6BF177F2-C312-4467-A8E7-2F7C06DF7D6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98433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5D26BA3A-860A-4168-9872-0A0D22BEA7A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391901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A95FA78C-CC95-43FC-8BB5-17A796D7B9E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685369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7EA70B51-4FF2-42F8-BAFF-83B593ADB78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978838" y="1967906"/>
            <a:ext cx="1280160" cy="128016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08EF00C-774E-4D73-AFEF-EEC6196DC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40" y="365125"/>
            <a:ext cx="10764520" cy="1325563"/>
          </a:xfrm>
        </p:spPr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633A346-456C-4917-800A-85F73F876E7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40191" y="3921355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E0C31CC6-C8A8-4831-94CD-366DC97C2B1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40191" y="4354090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CB652A06-2CE0-42F0-8186-DBBD4219FC8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820831" y="3921355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CE6091FC-D3C2-46A7-9A51-90A64C97C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820831" y="4354090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B663F697-5494-47B5-8888-F76EE36A561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401471" y="3921355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95B42005-A70C-498A-A357-1492B1393F4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01471" y="4354090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A3E4CA4-4074-4C29-853C-A8857A156AC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49871" y="5183351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308FE93-15B6-4FC2-A5CF-53AA6064DA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49871" y="5616086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08AE9FA-2EBC-416A-B525-59A5F1258E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530511" y="5183351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EE168CBD-2F60-4551-9129-2ED8A59499B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530511" y="5616086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E05EDFD4-CA70-451D-A8F0-BF688EDBFC7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11151" y="5183351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8E47CD55-3098-4BD6-A269-794D40911E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111151" y="5616086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EA65938B-08CE-4FA4-A95B-5A66E901ACD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1791" y="5183351"/>
            <a:ext cx="1839807" cy="42272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aseline="-250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A72442A0-E7C5-4604-A4AA-9A86DD29841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691791" y="5616086"/>
            <a:ext cx="1839807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ZA" sz="105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6946F89-1A32-4CE8-9F85-45EDF090AB96}"/>
              </a:ext>
            </a:extLst>
          </p:cNvPr>
          <p:cNvCxnSpPr>
            <a:cxnSpLocks/>
            <a:stCxn id="11" idx="2"/>
          </p:cNvCxnSpPr>
          <p:nvPr userDrawn="1"/>
        </p:nvCxnSpPr>
        <p:spPr>
          <a:xfrm flipH="1">
            <a:off x="1558635" y="3248066"/>
            <a:ext cx="6006" cy="67328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EE9F58-7707-4E5A-8C6B-C3D66810327C}"/>
              </a:ext>
            </a:extLst>
          </p:cNvPr>
          <p:cNvCxnSpPr>
            <a:cxnSpLocks/>
          </p:cNvCxnSpPr>
          <p:nvPr userDrawn="1"/>
        </p:nvCxnSpPr>
        <p:spPr>
          <a:xfrm flipH="1">
            <a:off x="4145279" y="3250315"/>
            <a:ext cx="6006" cy="67328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D1897E7-33EE-452E-B67F-D676DB9630EB}"/>
              </a:ext>
            </a:extLst>
          </p:cNvPr>
          <p:cNvCxnSpPr>
            <a:cxnSpLocks/>
          </p:cNvCxnSpPr>
          <p:nvPr userDrawn="1"/>
        </p:nvCxnSpPr>
        <p:spPr>
          <a:xfrm flipH="1">
            <a:off x="6732507" y="3243467"/>
            <a:ext cx="6006" cy="67328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DF35791-C763-4163-9B05-68EE7814EDBD}"/>
              </a:ext>
            </a:extLst>
          </p:cNvPr>
          <p:cNvCxnSpPr>
            <a:cxnSpLocks/>
          </p:cNvCxnSpPr>
          <p:nvPr userDrawn="1"/>
        </p:nvCxnSpPr>
        <p:spPr>
          <a:xfrm flipH="1">
            <a:off x="9316732" y="3243467"/>
            <a:ext cx="6006" cy="67328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6F2A3C7-B018-4022-B2BB-D8D2B03190AB}"/>
              </a:ext>
            </a:extLst>
          </p:cNvPr>
          <p:cNvCxnSpPr>
            <a:cxnSpLocks/>
          </p:cNvCxnSpPr>
          <p:nvPr userDrawn="1"/>
        </p:nvCxnSpPr>
        <p:spPr>
          <a:xfrm>
            <a:off x="2854035" y="3254943"/>
            <a:ext cx="0" cy="1926159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F52EF5B-4C4F-451E-B0B4-8226109ADE91}"/>
              </a:ext>
            </a:extLst>
          </p:cNvPr>
          <p:cNvCxnSpPr>
            <a:cxnSpLocks/>
          </p:cNvCxnSpPr>
          <p:nvPr userDrawn="1"/>
        </p:nvCxnSpPr>
        <p:spPr>
          <a:xfrm>
            <a:off x="5440679" y="3233453"/>
            <a:ext cx="0" cy="194989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7D6748B-4A98-4935-BC51-E43412110392}"/>
              </a:ext>
            </a:extLst>
          </p:cNvPr>
          <p:cNvCxnSpPr>
            <a:cxnSpLocks/>
          </p:cNvCxnSpPr>
          <p:nvPr userDrawn="1"/>
        </p:nvCxnSpPr>
        <p:spPr>
          <a:xfrm>
            <a:off x="8027907" y="3257242"/>
            <a:ext cx="0" cy="1919261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BA0E4AC-BE6A-45AA-B639-A8288815E8F9}"/>
              </a:ext>
            </a:extLst>
          </p:cNvPr>
          <p:cNvCxnSpPr>
            <a:cxnSpLocks/>
          </p:cNvCxnSpPr>
          <p:nvPr userDrawn="1"/>
        </p:nvCxnSpPr>
        <p:spPr>
          <a:xfrm>
            <a:off x="10612132" y="3254943"/>
            <a:ext cx="0" cy="1929384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ooter Placeholder 5">
            <a:extLst>
              <a:ext uri="{FF2B5EF4-FFF2-40B4-BE49-F238E27FC236}">
                <a16:creationId xmlns:a16="http://schemas.microsoft.com/office/drawing/2014/main" id="{12CD4C44-15F4-4517-B3CC-D07D4B93DD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79" name="Slide Number Placeholder 6">
            <a:extLst>
              <a:ext uri="{FF2B5EF4-FFF2-40B4-BE49-F238E27FC236}">
                <a16:creationId xmlns:a16="http://schemas.microsoft.com/office/drawing/2014/main" id="{9F988C33-C2E3-49AE-9BC1-9123EADC3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80" name="Date Placeholder 3">
            <a:extLst>
              <a:ext uri="{FF2B5EF4-FFF2-40B4-BE49-F238E27FC236}">
                <a16:creationId xmlns:a16="http://schemas.microsoft.com/office/drawing/2014/main" id="{757004CA-7955-4C10-8542-83D291BFF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59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pos="1392">
          <p15:clr>
            <a:srgbClr val="FBAE40"/>
          </p15:clr>
        </p15:guide>
        <p15:guide id="3" pos="2208">
          <p15:clr>
            <a:srgbClr val="FBAE40"/>
          </p15:clr>
        </p15:guide>
        <p15:guide id="4" pos="302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oup of people riding horses&#10;&#10;Description automatically generated with medium confidence">
            <a:extLst>
              <a:ext uri="{FF2B5EF4-FFF2-40B4-BE49-F238E27FC236}">
                <a16:creationId xmlns:a16="http://schemas.microsoft.com/office/drawing/2014/main" id="{0E805C5A-1029-4D1B-94B3-422EC2CA3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DF9E512-1300-47FB-86AC-F8C946EE6985}"/>
              </a:ext>
            </a:extLst>
          </p:cNvPr>
          <p:cNvSpPr/>
          <p:nvPr userDrawn="1"/>
        </p:nvSpPr>
        <p:spPr>
          <a:xfrm>
            <a:off x="304800" y="365125"/>
            <a:ext cx="11582400" cy="6127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399EA4A-18B9-4C3F-A6B1-0D80C2598D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2700" y="913448"/>
            <a:ext cx="5041900" cy="513492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907808-FD8D-4C4A-A5E4-068D94BF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0" y="2766219"/>
            <a:ext cx="5041900" cy="1325563"/>
          </a:xfrm>
        </p:spPr>
        <p:txBody>
          <a:bodyPr>
            <a:normAutofit/>
          </a:bodyPr>
          <a:lstStyle>
            <a:lvl1pPr algn="ctr">
              <a:defRPr sz="3600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C98BF5-ED87-4BF7-BB07-29187F8C8B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67600" y="913448"/>
            <a:ext cx="3886200" cy="419100"/>
          </a:xfrm>
        </p:spPr>
        <p:txBody>
          <a:bodyPr>
            <a:noAutofit/>
          </a:bodyPr>
          <a:lstStyle>
            <a:lvl1pPr marL="0" indent="0">
              <a:buNone/>
              <a:defRPr sz="24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0E0AB9E-D60D-4299-B73A-B96F7B7F81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67600" y="1275398"/>
            <a:ext cx="3886200" cy="307975"/>
          </a:xfrm>
        </p:spPr>
        <p:txBody>
          <a:bodyPr>
            <a:noAutofit/>
          </a:bodyPr>
          <a:lstStyle>
            <a:lvl1pPr marL="0" indent="0">
              <a:buNone/>
              <a:defRPr sz="18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D9663C9-EA8F-404F-A640-85028F6F3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67600" y="1672273"/>
            <a:ext cx="3886200" cy="27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D9C0574-6721-4F80-A5F8-8C4C5D2B97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2231390"/>
            <a:ext cx="3886200" cy="419100"/>
          </a:xfrm>
        </p:spPr>
        <p:txBody>
          <a:bodyPr>
            <a:noAutofit/>
          </a:bodyPr>
          <a:lstStyle>
            <a:lvl1pPr marL="0" indent="0">
              <a:buNone/>
              <a:defRPr sz="2400" b="0" spc="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86F510A-D29A-4582-ADA6-290E1D6A0B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67600" y="2593340"/>
            <a:ext cx="3886200" cy="307975"/>
          </a:xfrm>
        </p:spPr>
        <p:txBody>
          <a:bodyPr>
            <a:noAutofit/>
          </a:bodyPr>
          <a:lstStyle>
            <a:lvl1pPr marL="0" indent="0">
              <a:buNone/>
              <a:defRPr sz="1800" b="0" spc="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576EF89-ABF3-4312-A3E7-E1909CA74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67600" y="2990215"/>
            <a:ext cx="3886200" cy="27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198549-FECA-4B92-9906-8D1F79E14D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67600" y="3543935"/>
            <a:ext cx="3886200" cy="419100"/>
          </a:xfrm>
        </p:spPr>
        <p:txBody>
          <a:bodyPr>
            <a:noAutofit/>
          </a:bodyPr>
          <a:lstStyle>
            <a:lvl1pPr marL="0" indent="0">
              <a:buNone/>
              <a:defRPr sz="2400" b="0" spc="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10D5A62-4015-4F75-A2AC-D3C1B70911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67600" y="3905885"/>
            <a:ext cx="3886200" cy="307975"/>
          </a:xfrm>
        </p:spPr>
        <p:txBody>
          <a:bodyPr>
            <a:noAutofit/>
          </a:bodyPr>
          <a:lstStyle>
            <a:lvl1pPr marL="0" indent="0">
              <a:buNone/>
              <a:defRPr sz="1800" b="0" spc="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67DEAF9-25BD-404A-A5F3-30A81E38D2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67600" y="4302760"/>
            <a:ext cx="3886200" cy="27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03C6E4A-B7FD-4BD7-A807-52FE5D27E3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467600" y="4856480"/>
            <a:ext cx="3886200" cy="419100"/>
          </a:xfrm>
        </p:spPr>
        <p:txBody>
          <a:bodyPr>
            <a:noAutofit/>
          </a:bodyPr>
          <a:lstStyle>
            <a:lvl1pPr marL="0" indent="0">
              <a:buNone/>
              <a:defRPr sz="2400" b="0" spc="0" baseline="0">
                <a:solidFill>
                  <a:schemeClr val="accent1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69798A4B-546D-497E-8DC4-67F69916B6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67600" y="5218430"/>
            <a:ext cx="3886200" cy="307975"/>
          </a:xfrm>
        </p:spPr>
        <p:txBody>
          <a:bodyPr>
            <a:noAutofit/>
          </a:bodyPr>
          <a:lstStyle>
            <a:lvl1pPr marL="0" indent="0">
              <a:buNone/>
              <a:defRPr sz="1800" b="0" spc="0" baseline="0">
                <a:solidFill>
                  <a:schemeClr val="accent1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0720791-8657-4D3A-9912-1CF7D48EA1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67600" y="5615305"/>
            <a:ext cx="3886200" cy="27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8AD16A67-F6AC-4CFA-B638-3076C1568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ZA" dirty="0"/>
              <a:t>Pitch deck</a:t>
            </a:r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8619925E-10F5-4FE2-B665-672B18AF9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 spc="0"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99B42EE4-8774-49D2-8B69-8D680E801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97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lIns="0" rIns="0">
            <a:normAutofit/>
          </a:bodyPr>
          <a:lstStyle>
            <a:lvl1pPr marL="0" indent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5285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971" y="6356350"/>
            <a:ext cx="2372881" cy="365125"/>
          </a:xfrm>
        </p:spPr>
        <p:txBody>
          <a:bodyPr/>
          <a:lstStyle>
            <a:lvl1pPr algn="r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A83D3B-4878-44A9-ADD4-00764E5E82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4640" y="0"/>
            <a:ext cx="5547360" cy="6858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B9B857-A210-44D8-8C91-781E2B69B771}"/>
              </a:ext>
            </a:extLst>
          </p:cNvPr>
          <p:cNvCxnSpPr/>
          <p:nvPr userDrawn="1"/>
        </p:nvCxnSpPr>
        <p:spPr>
          <a:xfrm>
            <a:off x="1162050" y="2333625"/>
            <a:ext cx="0" cy="20002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ree, nature, spring&#10;&#10;Description automatically generated">
            <a:extLst>
              <a:ext uri="{FF2B5EF4-FFF2-40B4-BE49-F238E27FC236}">
                <a16:creationId xmlns:a16="http://schemas.microsoft.com/office/drawing/2014/main" id="{4A63342F-743C-459F-B121-7E344300D8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078480" y="3291840"/>
            <a:ext cx="6858000" cy="274320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E13AA0B-9749-4C5F-A7F8-7C789F44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  <a:noFill/>
        </p:spPr>
        <p:txBody>
          <a:bodyPr spcFirstLastPara="1" wrap="square" lIns="91440" tIns="45720" rIns="91440" bIns="45720" numCol="1">
            <a:prstTxWarp prst="textCircle">
              <a:avLst/>
            </a:prstTxWarp>
            <a:spAutoFit/>
          </a:bodyPr>
          <a:lstStyle>
            <a:lvl1pPr>
              <a:defRPr lang="en-US" sz="2000" b="0" cap="all" spc="0" baseline="0" dirty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 lIns="0" rIns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543626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ree, nature, spring&#10;&#10;Description automatically generated">
            <a:extLst>
              <a:ext uri="{FF2B5EF4-FFF2-40B4-BE49-F238E27FC236}">
                <a16:creationId xmlns:a16="http://schemas.microsoft.com/office/drawing/2014/main" id="{518D6250-5EE6-4875-8BAD-D7140B01B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392931" y="-941071"/>
            <a:ext cx="6858000" cy="874014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510E1D-A8A6-4E4B-8055-B484B48533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1921" y="536574"/>
            <a:ext cx="7780020" cy="57848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4446270" cy="1874837"/>
          </a:xfrm>
        </p:spPr>
        <p:txBody>
          <a:bodyPr anchor="t">
            <a:noAutofit/>
          </a:bodyPr>
          <a:lstStyle>
            <a:lvl1pPr algn="l"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858" y="3779212"/>
            <a:ext cx="1708784" cy="115633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BAFCD4-E08A-4CBF-B3C6-F99D6523EB03}"/>
              </a:ext>
            </a:extLst>
          </p:cNvPr>
          <p:cNvCxnSpPr>
            <a:cxnSpLocks/>
          </p:cNvCxnSpPr>
          <p:nvPr userDrawn="1"/>
        </p:nvCxnSpPr>
        <p:spPr>
          <a:xfrm flipH="1">
            <a:off x="1145859" y="4757108"/>
            <a:ext cx="230600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CDE2589-A5DF-4CFB-80DA-F3EB6E9A25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45858" y="5579334"/>
            <a:ext cx="1708784" cy="1116118"/>
          </a:xfrm>
        </p:spPr>
        <p:txBody>
          <a:bodyPr>
            <a:normAutofit/>
          </a:bodyPr>
          <a:lstStyle>
            <a:lvl1pPr marL="0" indent="0" algn="l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CE3F9E1-78CA-4716-9303-F5DE95A907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376" y="3264408"/>
            <a:ext cx="1993392" cy="1993392"/>
          </a:xfrm>
          <a:noFill/>
        </p:spPr>
        <p:txBody>
          <a:bodyPr spcFirstLastPara="1" wrap="square" lIns="91440" tIns="45720" rIns="91440" bIns="45720" numCol="1">
            <a:prstTxWarp prst="textCircle">
              <a:avLst/>
            </a:prstTxWarp>
            <a:spAutoFit/>
          </a:bodyPr>
          <a:lstStyle>
            <a:lvl1pPr>
              <a:defRPr lang="en-US" sz="2000" b="0" cap="all" spc="0" baseline="0" dirty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835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4" r:id="rId5"/>
    <p:sldLayoutId id="2147483667" r:id="rId6"/>
    <p:sldLayoutId id="2147483668" r:id="rId7"/>
    <p:sldLayoutId id="2147483669" r:id="rId8"/>
    <p:sldLayoutId id="2147483671" r:id="rId9"/>
    <p:sldLayoutId id="2147483672" r:id="rId10"/>
    <p:sldLayoutId id="2147483653" r:id="rId11"/>
    <p:sldLayoutId id="2147483663" r:id="rId12"/>
    <p:sldLayoutId id="2147483666" r:id="rId13"/>
    <p:sldLayoutId id="2147483678" r:id="rId14"/>
    <p:sldLayoutId id="2147483680" r:id="rId15"/>
    <p:sldLayoutId id="2147483679" r:id="rId16"/>
    <p:sldLayoutId id="2147483674" r:id="rId17"/>
    <p:sldLayoutId id="2147483675" r:id="rId18"/>
    <p:sldLayoutId id="2147483655" r:id="rId19"/>
    <p:sldLayoutId id="2147483676" r:id="rId20"/>
    <p:sldLayoutId id="2147483677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icture containing a clothing boutique. There are three women shopping.">
            <a:extLst>
              <a:ext uri="{FF2B5EF4-FFF2-40B4-BE49-F238E27FC236}">
                <a16:creationId xmlns:a16="http://schemas.microsoft.com/office/drawing/2014/main" id="{32238C12-2174-4712-863E-D187FCA60E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300" y="536574"/>
            <a:ext cx="7620000" cy="578485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480" y="1122363"/>
            <a:ext cx="4446270" cy="2387600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8840" y="4723772"/>
            <a:ext cx="1708784" cy="1156332"/>
          </a:xfrm>
        </p:spPr>
        <p:txBody>
          <a:bodyPr/>
          <a:lstStyle/>
          <a:p>
            <a:r>
              <a:rPr lang="en-US" dirty="0"/>
              <a:t>Mirjam Nilsson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AA5CFA6-DFAB-4166-9748-6F0CAB135B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41358" y="4162298"/>
            <a:ext cx="1993392" cy="1993392"/>
          </a:xfrm>
        </p:spPr>
        <p:txBody>
          <a:bodyPr/>
          <a:lstStyle/>
          <a:p>
            <a:r>
              <a:rPr lang="en-US" dirty="0"/>
              <a:t>WE HELP BUSINESSES GROW AND NURTURE A CONSUMER-FIRST MINDSET.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ED85059-9DA7-4AE3-9C9C-D4BCB1FDA6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</p:spPr>
        <p:txBody>
          <a:bodyPr/>
          <a:lstStyle/>
          <a:p>
            <a:r>
              <a:rPr lang="en-US" dirty="0"/>
              <a:t>WE HELP BUSINESSES GROW AND NURTURE A CONSUMER-FIRST MINDSET.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>
            <a:normAutofit/>
          </a:bodyPr>
          <a:lstStyle/>
          <a:p>
            <a:r>
              <a:rPr lang="en-ZA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At Contoso, </a:t>
            </a:r>
            <a:r>
              <a:rPr lang="en-ZA" dirty="0"/>
              <a:t>we’re disrupting the online retail landscape by finding new ways to engage with customers from across the globe. </a:t>
            </a:r>
            <a:r>
              <a:rPr lang="en-US" dirty="0"/>
              <a:t>By closing the loop between the customer and online retail stores, we help businesses grow and nurture a consumer-first mindset.</a:t>
            </a:r>
          </a:p>
        </p:txBody>
      </p:sp>
      <p:pic>
        <p:nvPicPr>
          <p:cNvPr id="17" name="Picture Placeholder 16" descr="A woman standing in front of a display of clothes&#10;&#10;">
            <a:extLst>
              <a:ext uri="{FF2B5EF4-FFF2-40B4-BE49-F238E27FC236}">
                <a16:creationId xmlns:a16="http://schemas.microsoft.com/office/drawing/2014/main" id="{6D9B0891-D7C3-40C5-8BEC-D9D22D6840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68718" y="523875"/>
            <a:ext cx="5657850" cy="58102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4244" y="473869"/>
            <a:ext cx="4603750" cy="1226572"/>
          </a:xfrm>
        </p:spPr>
        <p:txBody>
          <a:bodyPr>
            <a:normAutofit/>
          </a:bodyPr>
          <a:lstStyle/>
          <a:p>
            <a:r>
              <a:rPr lang="en-US" dirty="0"/>
              <a:t>Problem</a:t>
            </a:r>
          </a:p>
        </p:txBody>
      </p:sp>
      <p:pic>
        <p:nvPicPr>
          <p:cNvPr id="69" name="Picture Placeholder 68" descr="Pairs of blue jeans hanging on a clothing rack.&#10;&#10;">
            <a:extLst>
              <a:ext uri="{FF2B5EF4-FFF2-40B4-BE49-F238E27FC236}">
                <a16:creationId xmlns:a16="http://schemas.microsoft.com/office/drawing/2014/main" id="{26DA75F1-4499-46E3-8E93-C380B7C6E9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736" y="525463"/>
            <a:ext cx="4962526" cy="580707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6624C-064C-4D4F-B613-C815EDD797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035800" y="1859273"/>
            <a:ext cx="4298950" cy="334668"/>
          </a:xfrm>
        </p:spPr>
        <p:txBody>
          <a:bodyPr>
            <a:normAutofit/>
          </a:bodyPr>
          <a:lstStyle/>
          <a:p>
            <a:r>
              <a:rPr lang="en-US" dirty="0"/>
              <a:t>Market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5800" y="2160591"/>
            <a:ext cx="4298950" cy="7257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Online shopping continues to be consumer driven, but we're seeing a lapse of availability in the market for small business online shopping experience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9BC5DA-EF42-4CF4-AF0E-A65F3AC8C65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035800" y="2970450"/>
            <a:ext cx="4298950" cy="334668"/>
          </a:xfrm>
        </p:spPr>
        <p:txBody>
          <a:bodyPr>
            <a:normAutofit/>
          </a:bodyPr>
          <a:lstStyle/>
          <a:p>
            <a:r>
              <a:rPr lang="en-US" dirty="0"/>
              <a:t>Customers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27C6CE-351E-4F5B-A389-E4B6542A678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035800" y="3271768"/>
            <a:ext cx="4298950" cy="725701"/>
          </a:xfrm>
        </p:spPr>
        <p:txBody>
          <a:bodyPr/>
          <a:lstStyle/>
          <a:p>
            <a:r>
              <a:rPr lang="en-US" dirty="0"/>
              <a:t>69% of American customers now shop online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101B1D-67EA-45C2-8240-D5F9BBACEB7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035800" y="4081627"/>
            <a:ext cx="4298950" cy="334668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190298-D334-4008-9B52-5DA33924AF1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035800" y="4382945"/>
            <a:ext cx="4298950" cy="725701"/>
          </a:xfrm>
        </p:spPr>
        <p:txBody>
          <a:bodyPr/>
          <a:lstStyle/>
          <a:p>
            <a:r>
              <a:rPr lang="en-US" dirty="0"/>
              <a:t>The average American spends an average of $1,804 per order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FB5A77-C9D9-4479-BD72-51DE16EFF91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035800" y="5192805"/>
            <a:ext cx="4298950" cy="334668"/>
          </a:xfrm>
        </p:spPr>
        <p:txBody>
          <a:bodyPr>
            <a:normAutofit/>
          </a:bodyPr>
          <a:lstStyle/>
          <a:p>
            <a:r>
              <a:rPr lang="en-US" dirty="0"/>
              <a:t>Costs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FC4513-6C7F-49AA-AA6C-A40BE2C998C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035800" y="5494123"/>
            <a:ext cx="4298950" cy="725702"/>
          </a:xfrm>
        </p:spPr>
        <p:txBody>
          <a:bodyPr/>
          <a:lstStyle/>
          <a:p>
            <a:r>
              <a:rPr lang="en-US" dirty="0"/>
              <a:t>Loss of sales from not offering more customizable apps and websites for the small business owner </a:t>
            </a:r>
          </a:p>
        </p:txBody>
      </p:sp>
      <p:sp>
        <p:nvSpPr>
          <p:cNvPr id="173" name="Footer Placeholder 172">
            <a:extLst>
              <a:ext uri="{FF2B5EF4-FFF2-40B4-BE49-F238E27FC236}">
                <a16:creationId xmlns:a16="http://schemas.microsoft.com/office/drawing/2014/main" id="{26CF735C-7912-4C79-880A-D5EC8D2F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4" name="Slide Number Placeholder 173">
            <a:extLst>
              <a:ext uri="{FF2B5EF4-FFF2-40B4-BE49-F238E27FC236}">
                <a16:creationId xmlns:a16="http://schemas.microsoft.com/office/drawing/2014/main" id="{AE1BEBAA-2955-4EA2-8409-F46EC167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Solution</a:t>
            </a:r>
          </a:p>
        </p:txBody>
      </p:sp>
      <p:pic>
        <p:nvPicPr>
          <p:cNvPr id="16" name="Content Placeholder 15" descr="Ecommerce outline">
            <a:extLst>
              <a:ext uri="{FF2B5EF4-FFF2-40B4-BE49-F238E27FC236}">
                <a16:creationId xmlns:a16="http://schemas.microsoft.com/office/drawing/2014/main" id="{6FF24885-E9BF-4E11-B11D-D2826551BCF9}"/>
              </a:ext>
            </a:extLst>
          </p:cNvPr>
          <p:cNvPicPr>
            <a:picLocks noGrp="1" noChangeAspect="1"/>
          </p:cNvPicPr>
          <p:nvPr>
            <p:ph sz="quarter" idx="4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3681" y="2496344"/>
            <a:ext cx="914400" cy="9144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D39C8-B1F1-42EF-8CD9-3AD32F6D79A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1075" y="3971432"/>
            <a:ext cx="1980000" cy="360000"/>
          </a:xfrm>
        </p:spPr>
        <p:txBody>
          <a:bodyPr/>
          <a:lstStyle/>
          <a:p>
            <a:r>
              <a:rPr lang="en-US" dirty="0"/>
              <a:t>Close the gap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32B264-86C5-4719-9D12-2C89B955D52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81075" y="4644390"/>
            <a:ext cx="1980000" cy="1490080"/>
          </a:xfrm>
        </p:spPr>
        <p:txBody>
          <a:bodyPr>
            <a:normAutofit/>
          </a:bodyPr>
          <a:lstStyle/>
          <a:p>
            <a:r>
              <a:rPr lang="en-US" dirty="0"/>
              <a:t>Our product makes online shopping more available to small business owners, and no other product on the market offers the same benefits</a:t>
            </a:r>
          </a:p>
          <a:p>
            <a:endParaRPr lang="en-US" dirty="0"/>
          </a:p>
        </p:txBody>
      </p:sp>
      <p:pic>
        <p:nvPicPr>
          <p:cNvPr id="18" name="Content Placeholder 17" descr="Group outline">
            <a:extLst>
              <a:ext uri="{FF2B5EF4-FFF2-40B4-BE49-F238E27FC236}">
                <a16:creationId xmlns:a16="http://schemas.microsoft.com/office/drawing/2014/main" id="{4519A87B-B871-4979-BE2F-4ADBE8AA1B68}"/>
              </a:ext>
            </a:extLst>
          </p:cNvPr>
          <p:cNvPicPr>
            <a:picLocks noGrp="1" noChangeAspect="1"/>
          </p:cNvPicPr>
          <p:nvPr>
            <p:ph sz="quarter" idx="4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231" y="2496344"/>
            <a:ext cx="914400" cy="9144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F729D8-8842-4E51-A541-DCAD67FB2EA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731025" y="3971432"/>
            <a:ext cx="1980000" cy="360000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03D287-7C97-43BE-ABCA-D242D29C3BE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31025" y="4644390"/>
            <a:ext cx="1980000" cy="1490080"/>
          </a:xfrm>
        </p:spPr>
        <p:txBody>
          <a:bodyPr/>
          <a:lstStyle/>
          <a:p>
            <a:r>
              <a:rPr lang="en-US" dirty="0"/>
              <a:t>Gen Z (18-25 years old)</a:t>
            </a:r>
          </a:p>
          <a:p>
            <a:endParaRPr lang="en-US" dirty="0"/>
          </a:p>
        </p:txBody>
      </p:sp>
      <p:pic>
        <p:nvPicPr>
          <p:cNvPr id="20" name="Content Placeholder 19" descr="Money outline">
            <a:extLst>
              <a:ext uri="{FF2B5EF4-FFF2-40B4-BE49-F238E27FC236}">
                <a16:creationId xmlns:a16="http://schemas.microsoft.com/office/drawing/2014/main" id="{3136C472-958E-4551-B801-A030BBD15483}"/>
              </a:ext>
            </a:extLst>
          </p:cNvPr>
          <p:cNvPicPr>
            <a:picLocks noGrp="1" noChangeAspect="1"/>
          </p:cNvPicPr>
          <p:nvPr>
            <p:ph sz="quarter" idx="5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4369" y="2496344"/>
            <a:ext cx="914400" cy="914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A50A97-0C1A-4F2C-ADF6-6DC29BFE4D6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480975" y="3971432"/>
            <a:ext cx="1980000" cy="360000"/>
          </a:xfrm>
        </p:spPr>
        <p:txBody>
          <a:bodyPr/>
          <a:lstStyle/>
          <a:p>
            <a:r>
              <a:rPr lang="en-US" dirty="0"/>
              <a:t>Cost savings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239B51-6DAC-4FB7-944F-DB02DB8A1DB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480975" y="4644390"/>
            <a:ext cx="1980000" cy="1490080"/>
          </a:xfrm>
        </p:spPr>
        <p:txBody>
          <a:bodyPr/>
          <a:lstStyle/>
          <a:p>
            <a:r>
              <a:rPr lang="en-US" dirty="0"/>
              <a:t>Reduce expenses for adding products to third-party retail websites</a:t>
            </a:r>
          </a:p>
          <a:p>
            <a:endParaRPr lang="en-US" dirty="0"/>
          </a:p>
        </p:txBody>
      </p:sp>
      <p:pic>
        <p:nvPicPr>
          <p:cNvPr id="22" name="Content Placeholder 21" descr="Thumbs up sign outline">
            <a:extLst>
              <a:ext uri="{FF2B5EF4-FFF2-40B4-BE49-F238E27FC236}">
                <a16:creationId xmlns:a16="http://schemas.microsoft.com/office/drawing/2014/main" id="{5FEDC1CE-9A48-4F87-B8B7-59E0A9327A65}"/>
              </a:ext>
            </a:extLst>
          </p:cNvPr>
          <p:cNvPicPr>
            <a:picLocks noGrp="1" noChangeAspect="1"/>
          </p:cNvPicPr>
          <p:nvPr>
            <p:ph sz="quarter" idx="5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16294" y="2496344"/>
            <a:ext cx="914400" cy="9144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E32A3A-587F-45B9-8FF3-A21B2574C39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184088" y="3971432"/>
            <a:ext cx="1980000" cy="360000"/>
          </a:xfrm>
        </p:spPr>
        <p:txBody>
          <a:bodyPr/>
          <a:lstStyle/>
          <a:p>
            <a:r>
              <a:rPr lang="en-US" dirty="0"/>
              <a:t>Easy to use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D2B65E-985D-4E98-BA0E-667C921458A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184087" y="4644390"/>
            <a:ext cx="1980000" cy="1490080"/>
          </a:xfrm>
        </p:spPr>
        <p:txBody>
          <a:bodyPr>
            <a:normAutofit/>
          </a:bodyPr>
          <a:lstStyle/>
          <a:p>
            <a:r>
              <a:rPr lang="en-US" dirty="0"/>
              <a:t>A simple product that gives customers the information they need to order online and ship to their location</a:t>
            </a:r>
          </a:p>
        </p:txBody>
      </p:sp>
      <p:sp>
        <p:nvSpPr>
          <p:cNvPr id="62" name="Footer Placeholder 61">
            <a:extLst>
              <a:ext uri="{FF2B5EF4-FFF2-40B4-BE49-F238E27FC236}">
                <a16:creationId xmlns:a16="http://schemas.microsoft.com/office/drawing/2014/main" id="{ACCBE4EF-6416-442B-BED0-AF70D1152D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7774D196-C2DA-43A5-9A5E-AF7D6BC135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Pairs of blue jeans hanging on a clothing rack.">
            <a:extLst>
              <a:ext uri="{FF2B5EF4-FFF2-40B4-BE49-F238E27FC236}">
                <a16:creationId xmlns:a16="http://schemas.microsoft.com/office/drawing/2014/main" id="{F1C2BE4B-E482-42FA-A56B-7095553DA5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8600" y="508000"/>
            <a:ext cx="4114800" cy="5842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6500" y="2704606"/>
            <a:ext cx="2589600" cy="36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dirty="0"/>
              <a:t>Unique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537D5-4FEF-4664-81C1-2C05E312718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500" y="3128324"/>
            <a:ext cx="2589600" cy="861420"/>
          </a:xfrm>
        </p:spPr>
        <p:txBody>
          <a:bodyPr/>
          <a:lstStyle/>
          <a:p>
            <a:r>
              <a:rPr lang="en-ZA" dirty="0"/>
              <a:t> Only product specifically dedicated to the small retail businesses market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1DC5DE-A938-4B19-9529-EF9420C827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6500" y="4530478"/>
            <a:ext cx="2589600" cy="360000"/>
          </a:xfrm>
        </p:spPr>
        <p:txBody>
          <a:bodyPr/>
          <a:lstStyle/>
          <a:p>
            <a:r>
              <a:rPr lang="en-ZA" dirty="0"/>
              <a:t>First to market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1BDD33-CAD9-4927-AB65-90B33242945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96500" y="4954196"/>
            <a:ext cx="2589600" cy="861420"/>
          </a:xfrm>
        </p:spPr>
        <p:txBody>
          <a:bodyPr/>
          <a:lstStyle/>
          <a:p>
            <a:r>
              <a:rPr lang="en-ZA" dirty="0"/>
              <a:t>First beautifully designed product that's both stylish and functional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33CDA7-336E-4E02-B96B-4F2DADBE084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05900" y="2704606"/>
            <a:ext cx="2589600" cy="360000"/>
          </a:xfrm>
        </p:spPr>
        <p:txBody>
          <a:bodyPr/>
          <a:lstStyle/>
          <a:p>
            <a:r>
              <a:rPr lang="en-ZA" dirty="0"/>
              <a:t>Tested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79947F-8167-49E5-9FB8-4518041AB6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05900" y="3128324"/>
            <a:ext cx="2589600" cy="861420"/>
          </a:xfrm>
        </p:spPr>
        <p:txBody>
          <a:bodyPr/>
          <a:lstStyle/>
          <a:p>
            <a:r>
              <a:rPr lang="en-ZA" dirty="0"/>
              <a:t> Conducted testing with young entrepreneurs in the area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BACDC5-1452-40B4-B2AA-2B4FB4BC0A1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05900" y="4530478"/>
            <a:ext cx="2589600" cy="360000"/>
          </a:xfrm>
        </p:spPr>
        <p:txBody>
          <a:bodyPr/>
          <a:lstStyle/>
          <a:p>
            <a:r>
              <a:rPr lang="en-ZA" dirty="0"/>
              <a:t>Authentic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D2ECED-459E-4CC1-93F2-57BBD079EF1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105900" y="4954196"/>
            <a:ext cx="2589600" cy="861420"/>
          </a:xfrm>
        </p:spPr>
        <p:txBody>
          <a:bodyPr/>
          <a:lstStyle/>
          <a:p>
            <a:r>
              <a:rPr lang="en-ZA" dirty="0"/>
              <a:t>Designed with the help and input of online retail experts in the field 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17CB065-12C9-4FDE-8F99-2A75CDC0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547C99D-A54A-4305-AC4B-9D2B2EC9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800" y="473869"/>
            <a:ext cx="4603750" cy="1226572"/>
          </a:xfrm>
        </p:spPr>
        <p:txBody>
          <a:bodyPr>
            <a:normAutofit/>
          </a:bodyPr>
          <a:lstStyle/>
          <a:p>
            <a:r>
              <a:rPr lang="en-US" dirty="0"/>
              <a:t>Product benefits</a:t>
            </a:r>
          </a:p>
        </p:txBody>
      </p:sp>
      <p:pic>
        <p:nvPicPr>
          <p:cNvPr id="13" name="Picture Placeholder 12" descr="A close-up picture of hanging dress shirts with the sleeves rolled up. ">
            <a:extLst>
              <a:ext uri="{FF2B5EF4-FFF2-40B4-BE49-F238E27FC236}">
                <a16:creationId xmlns:a16="http://schemas.microsoft.com/office/drawing/2014/main" id="{F72A3323-6ABC-4B85-A189-A29EF07FEF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6358466" cy="68579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ED4EC-32F6-4539-AC4A-407303F2894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117447" y="2468617"/>
            <a:ext cx="410028" cy="459639"/>
          </a:xfrm>
        </p:spPr>
        <p:txBody>
          <a:bodyPr/>
          <a:lstStyle/>
          <a:p>
            <a:r>
              <a:rPr lang="en-US" dirty="0"/>
              <a:t>1.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5828" y="2469745"/>
            <a:ext cx="3888921" cy="7257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dirty="0"/>
              <a:t>Simple and efficient to use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1C192E-BFE3-4D62-9501-33A59424B9D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117447" y="3808800"/>
            <a:ext cx="410028" cy="459639"/>
          </a:xfrm>
        </p:spPr>
        <p:txBody>
          <a:bodyPr/>
          <a:lstStyle/>
          <a:p>
            <a:r>
              <a:rPr lang="en-US" dirty="0"/>
              <a:t>2.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07366F-A386-45E8-A6BC-7172853643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445828" y="3808800"/>
            <a:ext cx="3888921" cy="725701"/>
          </a:xfrm>
        </p:spPr>
        <p:txBody>
          <a:bodyPr/>
          <a:lstStyle/>
          <a:p>
            <a:r>
              <a:rPr lang="en-ZA" noProof="1"/>
              <a:t>Areas for community connections 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01C0F9-76A5-4F0E-A60F-B285BFF15C5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117447" y="5101562"/>
            <a:ext cx="410028" cy="459639"/>
          </a:xfrm>
        </p:spPr>
        <p:txBody>
          <a:bodyPr/>
          <a:lstStyle/>
          <a:p>
            <a:r>
              <a:rPr lang="en-US" dirty="0"/>
              <a:t>3.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0DA149-7863-4E7C-957C-3D5E1610A1F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445828" y="5101562"/>
            <a:ext cx="3888921" cy="725701"/>
          </a:xfrm>
        </p:spPr>
        <p:txBody>
          <a:bodyPr/>
          <a:lstStyle/>
          <a:p>
            <a:r>
              <a:rPr lang="en-ZA" noProof="1"/>
              <a:t>Online store and market swap</a:t>
            </a:r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A5CB8E0F-30DF-4192-AB40-029D65AA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4542EF84-4B0A-4795-A38E-331B003A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EABE39-41C7-4800-A83E-F43375B450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42032" y="1033272"/>
            <a:ext cx="4690872" cy="4690872"/>
          </a:xfrm>
        </p:spPr>
        <p:txBody>
          <a:bodyPr/>
          <a:lstStyle/>
          <a:p>
            <a:r>
              <a:rPr lang="en-US" dirty="0"/>
              <a:t>WE HELP BUSINESSES GROW AND NURTURE A CONSUMER-FIRST MINDSET.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558" y="2171699"/>
            <a:ext cx="7581900" cy="1681163"/>
          </a:xfrm>
        </p:spPr>
        <p:txBody>
          <a:bodyPr>
            <a:normAutofit/>
          </a:bodyPr>
          <a:lstStyle/>
          <a:p>
            <a:r>
              <a:rPr lang="en-US" dirty="0"/>
              <a:t>Company overview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Business model</a:t>
            </a:r>
          </a:p>
        </p:txBody>
      </p:sp>
      <p:pic>
        <p:nvPicPr>
          <p:cNvPr id="27" name="Picture Placeholder 11" descr="Research outline">
            <a:extLst>
              <a:ext uri="{FF2B5EF4-FFF2-40B4-BE49-F238E27FC236}">
                <a16:creationId xmlns:a16="http://schemas.microsoft.com/office/drawing/2014/main" id="{E7501A7A-87F1-48B8-AE66-9FB3CB45D40B}"/>
              </a:ext>
            </a:extLst>
          </p:cNvPr>
          <p:cNvPicPr>
            <a:picLocks noGrp="1" noChangeAspect="1"/>
          </p:cNvPicPr>
          <p:nvPr>
            <p:ph sz="quarter" idx="4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88456" y="2496344"/>
            <a:ext cx="914400" cy="914400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56050" y="3971432"/>
            <a:ext cx="1980000" cy="360000"/>
          </a:xfrm>
        </p:spPr>
        <p:txBody>
          <a:bodyPr/>
          <a:lstStyle/>
          <a:p>
            <a:r>
              <a:rPr lang="en-ZA" dirty="0"/>
              <a:t>Research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356050" y="4644390"/>
            <a:ext cx="1980000" cy="11161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We based our research on market trends and social media trends</a:t>
            </a:r>
          </a:p>
        </p:txBody>
      </p:sp>
      <p:pic>
        <p:nvPicPr>
          <p:cNvPr id="28" name="Picture Placeholder 15" descr="Internet outline">
            <a:extLst>
              <a:ext uri="{FF2B5EF4-FFF2-40B4-BE49-F238E27FC236}">
                <a16:creationId xmlns:a16="http://schemas.microsoft.com/office/drawing/2014/main" id="{55BF36B0-70C1-41A7-97F7-10772AE3E317}"/>
              </a:ext>
            </a:extLst>
          </p:cNvPr>
          <p:cNvPicPr>
            <a:picLocks noGrp="1" noChangeAspect="1"/>
          </p:cNvPicPr>
          <p:nvPr>
            <p:ph sz="quarter" idx="4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38800" y="2496344"/>
            <a:ext cx="914400" cy="914400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06000" y="3971432"/>
            <a:ext cx="1980000" cy="360000"/>
          </a:xfrm>
        </p:spPr>
        <p:txBody>
          <a:bodyPr/>
          <a:lstStyle/>
          <a:p>
            <a:r>
              <a:rPr lang="en-ZA" dirty="0"/>
              <a:t>Abstract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06000" y="4644390"/>
            <a:ext cx="1980000" cy="11161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We believe people need better tools for online shopping that cater to small business owners</a:t>
            </a:r>
          </a:p>
        </p:txBody>
      </p:sp>
      <p:pic>
        <p:nvPicPr>
          <p:cNvPr id="29" name="Picture Placeholder 17" descr="Illustrator outline">
            <a:extLst>
              <a:ext uri="{FF2B5EF4-FFF2-40B4-BE49-F238E27FC236}">
                <a16:creationId xmlns:a16="http://schemas.microsoft.com/office/drawing/2014/main" id="{3F6B18F7-FCBF-493A-AD96-1FFF95A95E2F}"/>
              </a:ext>
            </a:extLst>
          </p:cNvPr>
          <p:cNvPicPr>
            <a:picLocks noGrp="1" noChangeAspect="1"/>
          </p:cNvPicPr>
          <p:nvPr>
            <p:ph sz="quarter" idx="5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389144" y="2496344"/>
            <a:ext cx="914400" cy="914400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55950" y="3971432"/>
            <a:ext cx="1980000" cy="360000"/>
          </a:xfrm>
        </p:spPr>
        <p:txBody>
          <a:bodyPr/>
          <a:lstStyle/>
          <a:p>
            <a:r>
              <a:rPr lang="en-ZA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55950" y="4644390"/>
            <a:ext cx="1980000" cy="11161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Minimalist design and easy to use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869"/>
            <a:ext cx="4603750" cy="1226572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57251" y="2260384"/>
            <a:ext cx="2381245" cy="524308"/>
          </a:xfrm>
        </p:spPr>
        <p:txBody>
          <a:bodyPr/>
          <a:lstStyle/>
          <a:p>
            <a:r>
              <a:rPr lang="en-ZA" dirty="0"/>
              <a:t>$3B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2260384"/>
            <a:ext cx="2838444" cy="1226572"/>
          </a:xfrm>
        </p:spPr>
        <p:txBody>
          <a:bodyPr/>
          <a:lstStyle/>
          <a:p>
            <a:r>
              <a:rPr lang="en-ZA" dirty="0"/>
              <a:t>Opportunity to build</a:t>
            </a:r>
          </a:p>
          <a:p>
            <a:r>
              <a:rPr lang="en-ZA" dirty="0"/>
              <a:t>Fully inclusive market</a:t>
            </a:r>
          </a:p>
          <a:p>
            <a:r>
              <a:rPr lang="en-ZA" dirty="0"/>
              <a:t>Total addressable market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57251" y="3652757"/>
            <a:ext cx="2381245" cy="5243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$2B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771900" y="3652757"/>
            <a:ext cx="2838444" cy="12265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/>
              <a:t>Freedom to invent</a:t>
            </a:r>
            <a:endParaRPr lang="en-US" dirty="0"/>
          </a:p>
          <a:p>
            <a:r>
              <a:rPr lang="en-ZA" noProof="1"/>
              <a:t>Selectively inclusive market</a:t>
            </a:r>
          </a:p>
          <a:p>
            <a:r>
              <a:rPr lang="en-ZA" noProof="1"/>
              <a:t>Serviceable available market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57251" y="5054655"/>
            <a:ext cx="2381245" cy="524308"/>
          </a:xfrm>
        </p:spPr>
        <p:txBody>
          <a:bodyPr/>
          <a:lstStyle/>
          <a:p>
            <a:r>
              <a:rPr lang="en-US" dirty="0"/>
              <a:t>$1B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71900" y="5054655"/>
            <a:ext cx="2838444" cy="1226572"/>
          </a:xfrm>
        </p:spPr>
        <p:txBody>
          <a:bodyPr/>
          <a:lstStyle/>
          <a:p>
            <a:r>
              <a:rPr lang="en-ZA" noProof="1"/>
              <a:t>Few competitors</a:t>
            </a:r>
          </a:p>
          <a:p>
            <a:r>
              <a:rPr lang="en-ZA" noProof="1"/>
              <a:t>Specifically targeted market</a:t>
            </a:r>
          </a:p>
          <a:p>
            <a:r>
              <a:rPr lang="en-ZA" noProof="1"/>
              <a:t>Serviceable obtainable market</a:t>
            </a:r>
            <a:endParaRPr lang="en-ZA" dirty="0"/>
          </a:p>
        </p:txBody>
      </p:sp>
      <p:pic>
        <p:nvPicPr>
          <p:cNvPr id="66" name="Picture Placeholder 65" descr="An image of a rack of neutral colored T-shirts. A woman's hand is selecting a shirt.">
            <a:extLst>
              <a:ext uri="{FF2B5EF4-FFF2-40B4-BE49-F238E27FC236}">
                <a16:creationId xmlns:a16="http://schemas.microsoft.com/office/drawing/2014/main" id="{C3E1B7B8-079D-4A7E-9C9D-2238847A56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3213" y="525463"/>
            <a:ext cx="3784599" cy="2629175"/>
          </a:xfrm>
        </p:spPr>
      </p:pic>
      <p:pic>
        <p:nvPicPr>
          <p:cNvPr id="68" name="Picture Placeholder 67" descr="A close-up picture of hanging dress shirts with the sleeves rolled up.">
            <a:extLst>
              <a:ext uri="{FF2B5EF4-FFF2-40B4-BE49-F238E27FC236}">
                <a16:creationId xmlns:a16="http://schemas.microsoft.com/office/drawing/2014/main" id="{40720171-A57D-4B75-8C19-882ECC4A3A4B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3213" y="3632600"/>
            <a:ext cx="3784599" cy="2629175"/>
          </a:xfrm>
        </p:spPr>
      </p:pic>
      <p:sp>
        <p:nvSpPr>
          <p:cNvPr id="70" name="Footer Placeholder 69">
            <a:extLst>
              <a:ext uri="{FF2B5EF4-FFF2-40B4-BE49-F238E27FC236}">
                <a16:creationId xmlns:a16="http://schemas.microsoft.com/office/drawing/2014/main" id="{12B1BCF5-B7EC-40D8-A897-F2D078E8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4CFFF867-B1AF-42AA-BEA4-FC371900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Market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463A9-91ED-406C-A142-DF9DBB5C018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47229" y="3106128"/>
            <a:ext cx="2178858" cy="7455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$3 </a:t>
            </a:r>
          </a:p>
          <a:p>
            <a:r>
              <a:rPr lang="en-US" dirty="0"/>
              <a:t>Billion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961A7D-A035-4952-BEF5-34EE93A2486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47229" y="4333045"/>
            <a:ext cx="2178858" cy="11161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Opportunity to build</a:t>
            </a:r>
          </a:p>
          <a:p>
            <a:r>
              <a:rPr lang="en-ZA" noProof="1"/>
              <a:t>Addressable market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362839C-0A6B-4785-ACD4-42645537AFF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06571" y="3106128"/>
            <a:ext cx="2178858" cy="7455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$2 </a:t>
            </a:r>
          </a:p>
          <a:p>
            <a:r>
              <a:rPr lang="en-US" dirty="0"/>
              <a:t>Billion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2237DE-8579-4920-9331-C835DA7AE6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06571" y="4333045"/>
            <a:ext cx="2178858" cy="1116118"/>
          </a:xfrm>
        </p:spPr>
        <p:txBody>
          <a:bodyPr/>
          <a:lstStyle/>
          <a:p>
            <a:r>
              <a:rPr lang="en-ZA" dirty="0"/>
              <a:t>Freedom to invent</a:t>
            </a:r>
          </a:p>
          <a:p>
            <a:r>
              <a:rPr lang="en-ZA" dirty="0"/>
              <a:t>Serviceable market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C7B196D-A4EB-4450-8C2E-D4F26C77F8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490880" y="3106128"/>
            <a:ext cx="2178858" cy="7455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$1</a:t>
            </a:r>
          </a:p>
          <a:p>
            <a:r>
              <a:rPr lang="en-US" dirty="0"/>
              <a:t>Billion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6852965-5187-4677-B878-4167E7B6925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90880" y="4333045"/>
            <a:ext cx="2178858" cy="1116118"/>
          </a:xfrm>
        </p:spPr>
        <p:txBody>
          <a:bodyPr/>
          <a:lstStyle/>
          <a:p>
            <a:r>
              <a:rPr lang="en-ZA" dirty="0"/>
              <a:t>Few competitors</a:t>
            </a:r>
          </a:p>
          <a:p>
            <a:r>
              <a:rPr lang="en-ZA" dirty="0"/>
              <a:t>Obtainable market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271CD-BE6E-4BDA-AE95-037EC2B1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C7452-8DFB-4E08-B517-7802CB67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49" y="523875"/>
            <a:ext cx="4514849" cy="1514476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78E863-A7F0-4458-9544-4A9DDCC47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61346" y="3956731"/>
            <a:ext cx="3975804" cy="390525"/>
          </a:xfrm>
        </p:spPr>
        <p:txBody>
          <a:bodyPr/>
          <a:lstStyle/>
          <a:p>
            <a:r>
              <a:rPr lang="en-US" dirty="0"/>
              <a:t>Contoso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347256"/>
            <a:ext cx="3975804" cy="1829706"/>
          </a:xfrm>
        </p:spPr>
        <p:txBody>
          <a:bodyPr>
            <a:normAutofit/>
          </a:bodyPr>
          <a:lstStyle/>
          <a:p>
            <a:r>
              <a:rPr lang="en-ZA" noProof="1"/>
              <a:t>Our product is priced below that of other online marketplace companies </a:t>
            </a:r>
          </a:p>
          <a:p>
            <a:r>
              <a:rPr lang="en-ZA" noProof="1"/>
              <a:t>Simple and easy to use, compared to the complex websites and apps of our competitors</a:t>
            </a:r>
          </a:p>
          <a:p>
            <a:r>
              <a:rPr lang="en-ZA" noProof="1"/>
              <a:t>Affordability is the main draw for our consumers to our product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716E2A-DCFA-4839-B1DB-933E834097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20184" y="1652142"/>
            <a:ext cx="3902664" cy="390525"/>
          </a:xfrm>
        </p:spPr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ED02888-AE4B-483E-955E-BBA8C74A15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20183" y="2542410"/>
            <a:ext cx="3902664" cy="390525"/>
          </a:xfrm>
        </p:spPr>
        <p:txBody>
          <a:bodyPr/>
          <a:lstStyle/>
          <a:p>
            <a:r>
              <a:rPr lang="en-US" dirty="0"/>
              <a:t>Company A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B51C25D-BFAD-4131-954F-00030987D00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20887" y="2856735"/>
            <a:ext cx="3902664" cy="712731"/>
          </a:xfrm>
        </p:spPr>
        <p:txBody>
          <a:bodyPr/>
          <a:lstStyle/>
          <a:p>
            <a:r>
              <a:rPr lang="en-ZA" noProof="1"/>
              <a:t>Product is more expensive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3C95DFE-4A86-4A2B-94D0-D2C9BCC0FF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20183" y="3848665"/>
            <a:ext cx="3902664" cy="390525"/>
          </a:xfrm>
        </p:spPr>
        <p:txBody>
          <a:bodyPr/>
          <a:lstStyle/>
          <a:p>
            <a:r>
              <a:rPr lang="en-US" dirty="0"/>
              <a:t>Companies B &amp; C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23C4AF8-13A6-4D72-82B6-5DC249673BB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920887" y="4162990"/>
            <a:ext cx="3902664" cy="712731"/>
          </a:xfrm>
        </p:spPr>
        <p:txBody>
          <a:bodyPr/>
          <a:lstStyle/>
          <a:p>
            <a:r>
              <a:rPr lang="en-ZA" noProof="1"/>
              <a:t>Product is expensive and inconvenient to use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79409D3-16E0-4858-BB6F-74BCFF7186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20183" y="5154920"/>
            <a:ext cx="3902664" cy="390525"/>
          </a:xfrm>
        </p:spPr>
        <p:txBody>
          <a:bodyPr/>
          <a:lstStyle/>
          <a:p>
            <a:r>
              <a:rPr lang="en-US"/>
              <a:t>Companies D &amp; E</a:t>
            </a:r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084530B-0293-490A-A8DE-6471B6FEB95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920887" y="5469245"/>
            <a:ext cx="3902664" cy="712731"/>
          </a:xfrm>
        </p:spPr>
        <p:txBody>
          <a:bodyPr/>
          <a:lstStyle/>
          <a:p>
            <a:r>
              <a:rPr lang="en-ZA" noProof="1"/>
              <a:t>Product is affordable, but inconvenient to use</a:t>
            </a:r>
            <a:endParaRPr lang="en-US" dirty="0"/>
          </a:p>
        </p:txBody>
      </p:sp>
      <p:sp>
        <p:nvSpPr>
          <p:cNvPr id="55" name="Footer Placeholder 54">
            <a:extLst>
              <a:ext uri="{FF2B5EF4-FFF2-40B4-BE49-F238E27FC236}">
                <a16:creationId xmlns:a16="http://schemas.microsoft.com/office/drawing/2014/main" id="{3D23A1B3-2C47-4D37-BEED-D28259CF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3BAEF036-3E79-4566-A2B2-4137AD58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Our competition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Convenient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>
            <a:normAutofit/>
          </a:bodyPr>
          <a:lstStyle/>
          <a:p>
            <a:r>
              <a:rPr lang="en-ZA" dirty="0"/>
              <a:t>Competitor A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87F8C66-F0BA-4851-B7FE-2C6313B909B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8897" y="2169263"/>
            <a:ext cx="1706965" cy="1048575"/>
          </a:xfrm>
        </p:spPr>
        <p:txBody>
          <a:bodyPr/>
          <a:lstStyle/>
          <a:p>
            <a:r>
              <a:rPr lang="en-US" dirty="0"/>
              <a:t>Contoso Ltd.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4043F25-8F22-4A9D-9575-6C9669D787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64990" y="3528829"/>
            <a:ext cx="1393863" cy="492025"/>
          </a:xfrm>
        </p:spPr>
        <p:txBody>
          <a:bodyPr/>
          <a:lstStyle/>
          <a:p>
            <a:r>
              <a:rPr lang="en-US" dirty="0"/>
              <a:t>Affordable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4632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ZA" dirty="0"/>
              <a:t>Expensive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26EA1A0-15A8-4CB8-84D5-EF8B14A51E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Competitor 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5BC1DC3-91F2-4287-856E-2874E1AB7F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459860"/>
            <a:ext cx="1183179" cy="492025"/>
          </a:xfrm>
        </p:spPr>
        <p:txBody>
          <a:bodyPr/>
          <a:lstStyle/>
          <a:p>
            <a:r>
              <a:rPr lang="en-US" dirty="0"/>
              <a:t>Competitor 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5F45D89-6A8F-483F-AAC9-61B92CEDC6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Competitor B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B0ECC1A-3F7F-4199-883A-22A3E538D7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Competitor 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Inconvenient</a:t>
            </a:r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F0BAF3C6-1732-40FA-8A5E-68B4183E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7642845-9E3F-4881-95DB-845C15F2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12</a:t>
            </a:fld>
            <a:endParaRPr lang="en-ZA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B320C9-623E-4434-894D-C6FB2A739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86ADE94-89F1-4008-BF95-A01AFED02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8F5B351-D924-4E6D-BAE4-28778C6FB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F1814FA-32A4-424C-A570-76491AB8B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F29A51-5072-4EE1-8594-07DE7DE39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D49F62-2885-42A3-867F-7B01BC113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7551056" y="2351296"/>
            <a:ext cx="118872" cy="1188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675"/>
            <a:ext cx="10515600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ZA" dirty="0"/>
              <a:t>How we’ll scale in the future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59C8-1454-443A-8D4C-79058EF45B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" y="2647722"/>
            <a:ext cx="1725930" cy="365114"/>
          </a:xfrm>
        </p:spPr>
        <p:txBody>
          <a:bodyPr/>
          <a:lstStyle/>
          <a:p>
            <a:r>
              <a:rPr lang="en-US" dirty="0"/>
              <a:t>January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0DB42-F5C7-4064-A18E-21BBCDC3F5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4927" y="2647722"/>
            <a:ext cx="1725930" cy="365114"/>
          </a:xfrm>
        </p:spPr>
        <p:txBody>
          <a:bodyPr/>
          <a:lstStyle/>
          <a:p>
            <a:r>
              <a:rPr lang="en-US" dirty="0"/>
              <a:t>February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36B395-BD80-4538-B76B-11CC75A25F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13504" y="2647722"/>
            <a:ext cx="1725930" cy="365114"/>
          </a:xfrm>
        </p:spPr>
        <p:txBody>
          <a:bodyPr/>
          <a:lstStyle/>
          <a:p>
            <a:r>
              <a:rPr lang="en-US" dirty="0"/>
              <a:t>March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42DE94-AB00-40D7-9185-8BBCF326AD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2081" y="2647722"/>
            <a:ext cx="1725930" cy="365114"/>
          </a:xfrm>
        </p:spPr>
        <p:txBody>
          <a:bodyPr/>
          <a:lstStyle/>
          <a:p>
            <a:r>
              <a:rPr lang="en-US" dirty="0"/>
              <a:t>April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4CBBC5-2CD7-4438-9E5E-414F88F868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50658" y="2647722"/>
            <a:ext cx="1725930" cy="365114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D89AB-77A6-4FFE-BC36-A5BB3BFAE9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30121" y="2647722"/>
            <a:ext cx="1725930" cy="365114"/>
          </a:xfrm>
        </p:spPr>
        <p:txBody>
          <a:bodyPr/>
          <a:lstStyle/>
          <a:p>
            <a:r>
              <a:rPr lang="en-US" dirty="0"/>
              <a:t>June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89E483B-1D7E-4A4D-96D5-BEFD585BDF0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618463" y="3119254"/>
            <a:ext cx="2178858" cy="1116118"/>
          </a:xfrm>
        </p:spPr>
        <p:txBody>
          <a:bodyPr/>
          <a:lstStyle/>
          <a:p>
            <a:r>
              <a:rPr lang="en-US" dirty="0"/>
              <a:t>Roll out product to local retail stores in the region to help establish the product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55ECA65-0537-4404-B8C7-011204A715F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24194" y="3119254"/>
            <a:ext cx="2178858" cy="1116118"/>
          </a:xfrm>
        </p:spPr>
        <p:txBody>
          <a:bodyPr/>
          <a:lstStyle/>
          <a:p>
            <a:r>
              <a:rPr lang="en-US" dirty="0"/>
              <a:t>Release the product to the general public and monitor press and regional market trends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4B3D18-C1FA-41A0-AB3C-36937016F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350" y="4705258"/>
            <a:ext cx="1725930" cy="365114"/>
          </a:xfrm>
        </p:spPr>
        <p:txBody>
          <a:bodyPr/>
          <a:lstStyle/>
          <a:p>
            <a:r>
              <a:rPr lang="en-US" dirty="0"/>
              <a:t>July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224F0B-A1BB-44CF-AC30-B1B8A63BB2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44927" y="4705258"/>
            <a:ext cx="1725930" cy="365114"/>
          </a:xfrm>
        </p:spPr>
        <p:txBody>
          <a:bodyPr/>
          <a:lstStyle/>
          <a:p>
            <a:r>
              <a:rPr lang="en-US" dirty="0"/>
              <a:t>August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CD557E-93C9-4017-A099-729E3C78AB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13504" y="4705258"/>
            <a:ext cx="1725930" cy="365114"/>
          </a:xfrm>
        </p:spPr>
        <p:txBody>
          <a:bodyPr/>
          <a:lstStyle/>
          <a:p>
            <a:r>
              <a:rPr lang="en-US" dirty="0"/>
              <a:t>September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986B7E-79FB-4447-ABD5-0F8681ECCD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82081" y="4705258"/>
            <a:ext cx="1725930" cy="365114"/>
          </a:xfrm>
        </p:spPr>
        <p:txBody>
          <a:bodyPr/>
          <a:lstStyle/>
          <a:p>
            <a:r>
              <a:rPr lang="en-US" dirty="0"/>
              <a:t>October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A05BCC-931A-4EC0-8CD3-33F1461EE8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550658" y="4705258"/>
            <a:ext cx="1725930" cy="365114"/>
          </a:xfrm>
        </p:spPr>
        <p:txBody>
          <a:bodyPr/>
          <a:lstStyle/>
          <a:p>
            <a:r>
              <a:rPr lang="en-US" dirty="0"/>
              <a:t>November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38146F-1DAA-450A-933D-A275F3D503D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30121" y="4705258"/>
            <a:ext cx="1725930" cy="365114"/>
          </a:xfrm>
        </p:spPr>
        <p:txBody>
          <a:bodyPr/>
          <a:lstStyle/>
          <a:p>
            <a:r>
              <a:rPr lang="en-US" dirty="0"/>
              <a:t>December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042418E-0F04-405D-8340-2DA5B59209F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755617" y="5176789"/>
            <a:ext cx="2178858" cy="1116118"/>
          </a:xfrm>
        </p:spPr>
        <p:txBody>
          <a:bodyPr/>
          <a:lstStyle/>
          <a:p>
            <a:r>
              <a:rPr lang="en-US" dirty="0"/>
              <a:t>Gather feedback from the retail community to expand availability of the product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9988CDB-AF48-47AE-8D08-3BED129D8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61F1816-351A-409F-AD5D-A78A67B2F4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Two-year action plan</a:t>
            </a:r>
          </a:p>
        </p:txBody>
      </p:sp>
      <p:sp>
        <p:nvSpPr>
          <p:cNvPr id="132" name="Text Placeholder 31">
            <a:extLst>
              <a:ext uri="{FF2B5EF4-FFF2-40B4-BE49-F238E27FC236}">
                <a16:creationId xmlns:a16="http://schemas.microsoft.com/office/drawing/2014/main" id="{E3CF9CA5-FC66-4F16-AC95-4EE4D2FE0C71}"/>
              </a:ext>
            </a:extLst>
          </p:cNvPr>
          <p:cNvSpPr txBox="1">
            <a:spLocks/>
          </p:cNvSpPr>
          <p:nvPr/>
        </p:nvSpPr>
        <p:spPr>
          <a:xfrm>
            <a:off x="2042184" y="2220913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Draft blueprints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120" name="Text Placeholder 31">
            <a:extLst>
              <a:ext uri="{FF2B5EF4-FFF2-40B4-BE49-F238E27FC236}">
                <a16:creationId xmlns:a16="http://schemas.microsoft.com/office/drawing/2014/main" id="{6B319B81-E8CC-4816-B014-B96B60398937}"/>
              </a:ext>
            </a:extLst>
          </p:cNvPr>
          <p:cNvSpPr txBox="1">
            <a:spLocks/>
          </p:cNvSpPr>
          <p:nvPr/>
        </p:nvSpPr>
        <p:spPr>
          <a:xfrm>
            <a:off x="5190031" y="221861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Gather feedback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122" name="Text Placeholder 31">
            <a:extLst>
              <a:ext uri="{FF2B5EF4-FFF2-40B4-BE49-F238E27FC236}">
                <a16:creationId xmlns:a16="http://schemas.microsoft.com/office/drawing/2014/main" id="{0E99F605-C523-4260-A912-A2E86F745A52}"/>
              </a:ext>
            </a:extLst>
          </p:cNvPr>
          <p:cNvSpPr txBox="1">
            <a:spLocks/>
          </p:cNvSpPr>
          <p:nvPr/>
        </p:nvSpPr>
        <p:spPr>
          <a:xfrm>
            <a:off x="9121117" y="2222398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Deliver to client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>
            <a:normAutofit/>
          </a:bodyPr>
          <a:lstStyle/>
          <a:p>
            <a:r>
              <a:rPr lang="en-ZA" dirty="0"/>
              <a:t>20XX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Feb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Mar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Apr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May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Jun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Jul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Aug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Sep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Oct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Nov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Dec</a:t>
            </a:r>
          </a:p>
        </p:txBody>
      </p:sp>
      <p:sp>
        <p:nvSpPr>
          <p:cNvPr id="11" name="Year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>
            <a:normAutofit/>
          </a:bodyPr>
          <a:lstStyle/>
          <a:p>
            <a:r>
              <a:rPr lang="en-ZA" dirty="0"/>
              <a:t>20XX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Jan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Feb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Mar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Apr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May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Jun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Jul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Aug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Sep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Oct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Nov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Dec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4BBE5C7-0F68-4638-9C16-5623706D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73920" y="2904543"/>
            <a:ext cx="3722" cy="533400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C5621AD-3E3A-42D0-819B-CEB44C032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18933" y="2901831"/>
            <a:ext cx="6667" cy="538024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810021B-8A44-47D3-B2A9-C3618698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50019" y="2905616"/>
            <a:ext cx="0" cy="532327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E106C3E-C8D4-42E4-8CBA-1D676A711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0" y="4671434"/>
            <a:ext cx="2019" cy="537881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75B288B-E228-4B20-9363-A20A7B84F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34293" y="4671434"/>
            <a:ext cx="1261" cy="537881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317A45C-24E8-4685-A262-E9BBAA39E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1938" y="4671434"/>
            <a:ext cx="0" cy="537881"/>
          </a:xfrm>
          <a:prstGeom prst="line">
            <a:avLst/>
          </a:prstGeom>
          <a:ln>
            <a:solidFill>
              <a:schemeClr val="accent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 Placeholder 31">
            <a:extLst>
              <a:ext uri="{FF2B5EF4-FFF2-40B4-BE49-F238E27FC236}">
                <a16:creationId xmlns:a16="http://schemas.microsoft.com/office/drawing/2014/main" id="{A90962CB-4CE7-4B7E-9389-A3D6E9AD7A94}"/>
              </a:ext>
            </a:extLst>
          </p:cNvPr>
          <p:cNvSpPr txBox="1">
            <a:spLocks/>
          </p:cNvSpPr>
          <p:nvPr/>
        </p:nvSpPr>
        <p:spPr>
          <a:xfrm>
            <a:off x="1259117" y="523902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Run focus groups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126" name="Text Placeholder 31">
            <a:extLst>
              <a:ext uri="{FF2B5EF4-FFF2-40B4-BE49-F238E27FC236}">
                <a16:creationId xmlns:a16="http://schemas.microsoft.com/office/drawing/2014/main" id="{3B938745-0E32-4D9A-B119-C3C0A02CDA78}"/>
              </a:ext>
            </a:extLst>
          </p:cNvPr>
          <p:cNvSpPr txBox="1">
            <a:spLocks/>
          </p:cNvSpPr>
          <p:nvPr/>
        </p:nvSpPr>
        <p:spPr>
          <a:xfrm>
            <a:off x="4406652" y="523902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Test design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128" name="Text Placeholder 31">
            <a:extLst>
              <a:ext uri="{FF2B5EF4-FFF2-40B4-BE49-F238E27FC236}">
                <a16:creationId xmlns:a16="http://schemas.microsoft.com/office/drawing/2014/main" id="{ECE593A2-46FF-43CE-82E9-F9F271C63186}"/>
              </a:ext>
            </a:extLst>
          </p:cNvPr>
          <p:cNvSpPr txBox="1">
            <a:spLocks/>
          </p:cNvSpPr>
          <p:nvPr/>
        </p:nvSpPr>
        <p:spPr>
          <a:xfrm>
            <a:off x="7581698" y="523902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200" dirty="0">
                <a:solidFill>
                  <a:schemeClr val="accent3"/>
                </a:solidFill>
                <a:ea typeface="+mj-ea"/>
                <a:cs typeface="+mj-cs"/>
              </a:rPr>
              <a:t>Launch design</a:t>
            </a:r>
            <a:endParaRPr lang="en-ZA" sz="1050" dirty="0">
              <a:solidFill>
                <a:schemeClr val="accent3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FEE1642-B122-4C8C-812B-30F133EF6C2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416609923"/>
              </p:ext>
            </p:extLst>
          </p:nvPr>
        </p:nvGraphicFramePr>
        <p:xfrm>
          <a:off x="838200" y="1690688"/>
          <a:ext cx="10515600" cy="440820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8120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35153012"/>
                    </a:ext>
                  </a:extLst>
                </a:gridCol>
              </a:tblGrid>
              <a:tr h="33909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1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2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Year 3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Income</a:t>
                      </a: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Users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400,000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1,600,000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Sales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4,000,000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16,000,000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Average price per sale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75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80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90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Revenue @ 15%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5,625,000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48,000,000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216,000,000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Gross profit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5,625,000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48,000,000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216,000,000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22160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Sales &amp; marketing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5,062,500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38,400,000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151,200,000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70%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07092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Customer service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1,687,500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9,600,000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21,600,000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10%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68409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Product development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562,500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2,400,000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10,800,000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5%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88327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Research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281,250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2,400,000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4,320,000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2%</a:t>
                      </a:r>
                      <a:endParaRPr lang="en-US" sz="9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33075"/>
                  </a:ext>
                </a:extLst>
              </a:tr>
              <a:tr h="339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Total expenses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7,593,750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52,800,000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187,920,000</a:t>
                      </a:r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4564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DD883E-A834-43D6-8528-4C7B3458BE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10C15D-71F1-4096-82BD-903A823B9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7165"/>
            <a:ext cx="10515600" cy="1004255"/>
          </a:xfrm>
        </p:spPr>
        <p:txBody>
          <a:bodyPr/>
          <a:lstStyle/>
          <a:p>
            <a:r>
              <a:rPr lang="en-US" dirty="0"/>
              <a:t>Meet the team</a:t>
            </a:r>
          </a:p>
        </p:txBody>
      </p:sp>
      <p:pic>
        <p:nvPicPr>
          <p:cNvPr id="24" name="Picture Placeholder 23" descr="Team member headshot">
            <a:extLst>
              <a:ext uri="{FF2B5EF4-FFF2-40B4-BE49-F238E27FC236}">
                <a16:creationId xmlns:a16="http://schemas.microsoft.com/office/drawing/2014/main" id="{0B2FD881-60C0-412B-B373-76C345F1EB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520" y="518474"/>
            <a:ext cx="2743200" cy="2743200"/>
          </a:xfrm>
        </p:spPr>
      </p:pic>
      <p:pic>
        <p:nvPicPr>
          <p:cNvPr id="30" name="Picture Placeholder 29" descr="Team member headshot">
            <a:extLst>
              <a:ext uri="{FF2B5EF4-FFF2-40B4-BE49-F238E27FC236}">
                <a16:creationId xmlns:a16="http://schemas.microsoft.com/office/drawing/2014/main" id="{5160593B-7F71-433A-ABEB-B52EBE07518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7720" y="518474"/>
            <a:ext cx="2743200" cy="2743200"/>
          </a:xfrm>
        </p:spPr>
      </p:pic>
      <p:pic>
        <p:nvPicPr>
          <p:cNvPr id="32" name="Picture Placeholder 31" descr="Team member headshot">
            <a:extLst>
              <a:ext uri="{FF2B5EF4-FFF2-40B4-BE49-F238E27FC236}">
                <a16:creationId xmlns:a16="http://schemas.microsoft.com/office/drawing/2014/main" id="{2F4583C6-96F2-4E60-AC92-591CAEE2436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0920" y="518474"/>
            <a:ext cx="2743200" cy="2743200"/>
          </a:xfrm>
        </p:spPr>
      </p:pic>
      <p:pic>
        <p:nvPicPr>
          <p:cNvPr id="34" name="Picture Placeholder 33" descr="Team member headshot">
            <a:extLst>
              <a:ext uri="{FF2B5EF4-FFF2-40B4-BE49-F238E27FC236}">
                <a16:creationId xmlns:a16="http://schemas.microsoft.com/office/drawing/2014/main" id="{46AD5EB1-3CA5-4085-8338-883A3FC5801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34120" y="518474"/>
            <a:ext cx="2743200" cy="27432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C601CC-5B2F-4CCA-8AB4-2253FA771F7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4520" y="5229500"/>
            <a:ext cx="2743200" cy="422721"/>
          </a:xfrm>
        </p:spPr>
        <p:txBody>
          <a:bodyPr/>
          <a:lstStyle/>
          <a:p>
            <a:r>
              <a:rPr lang="en-US" dirty="0"/>
              <a:t>Takuma Hayashi​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42829A7F-467F-4B5E-BAF9-59B6252FF5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4520" y="5693075"/>
            <a:ext cx="2743200" cy="365125"/>
          </a:xfrm>
        </p:spPr>
        <p:txBody>
          <a:bodyPr/>
          <a:lstStyle/>
          <a:p>
            <a:r>
              <a:rPr lang="en-US" dirty="0"/>
              <a:t>President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D77723-BA0E-4903-BA70-BE8B1049D35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347720" y="5229500"/>
            <a:ext cx="2743200" cy="422721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700E54A-97ED-4802-87BA-D82F8BA829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347720" y="5693075"/>
            <a:ext cx="2743200" cy="365125"/>
          </a:xfrm>
        </p:spPr>
        <p:txBody>
          <a:bodyPr/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DE81128-5EF2-423E-80FD-93C57A81833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101082" y="5229500"/>
            <a:ext cx="2733038" cy="422721"/>
          </a:xfrm>
        </p:spPr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B797D6B-812C-4E80-8088-6BC4F219528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101082" y="5693075"/>
            <a:ext cx="2733038" cy="365125"/>
          </a:xfrm>
        </p:spPr>
        <p:txBody>
          <a:bodyPr/>
          <a:lstStyle/>
          <a:p>
            <a:r>
              <a:rPr lang="en-US" dirty="0"/>
              <a:t>Chief Operations Officer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854A7E-D096-4839-ACC3-0F17518709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34120" y="5224905"/>
            <a:ext cx="2753360" cy="422721"/>
          </a:xfrm>
        </p:spPr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1A4D31-5461-4A11-8DCF-5C93EDED9F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34120" y="5688480"/>
            <a:ext cx="2753360" cy="365125"/>
          </a:xfrm>
        </p:spPr>
        <p:txBody>
          <a:bodyPr/>
          <a:lstStyle/>
          <a:p>
            <a:r>
              <a:rPr lang="en-US" dirty="0"/>
              <a:t>VP Marketing</a:t>
            </a:r>
          </a:p>
        </p:txBody>
      </p:sp>
      <p:sp>
        <p:nvSpPr>
          <p:cNvPr id="62" name="Footer Placeholder 61">
            <a:extLst>
              <a:ext uri="{FF2B5EF4-FFF2-40B4-BE49-F238E27FC236}">
                <a16:creationId xmlns:a16="http://schemas.microsoft.com/office/drawing/2014/main" id="{675DD62E-5A6B-4350-B4F8-EC75A70E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C8AD60CA-E071-4F79-8130-6A5789C8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40" y="365125"/>
            <a:ext cx="10764520" cy="1325563"/>
          </a:xfrm>
        </p:spPr>
        <p:txBody>
          <a:bodyPr/>
          <a:lstStyle/>
          <a:p>
            <a:r>
              <a:rPr lang="en-US" dirty="0"/>
              <a:t>Meet the full team</a:t>
            </a:r>
          </a:p>
        </p:txBody>
      </p:sp>
      <p:pic>
        <p:nvPicPr>
          <p:cNvPr id="36" name="Picture Placeholder 35" descr="Team member headshot">
            <a:extLst>
              <a:ext uri="{FF2B5EF4-FFF2-40B4-BE49-F238E27FC236}">
                <a16:creationId xmlns:a16="http://schemas.microsoft.com/office/drawing/2014/main" id="{B021F0E9-2F38-4B9A-A374-BCCD5548F6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561" y="1967906"/>
            <a:ext cx="1280160" cy="1280160"/>
          </a:xfrm>
        </p:spPr>
      </p:pic>
      <p:pic>
        <p:nvPicPr>
          <p:cNvPr id="38" name="Picture Placeholder 37" descr="Team member headshot">
            <a:extLst>
              <a:ext uri="{FF2B5EF4-FFF2-40B4-BE49-F238E27FC236}">
                <a16:creationId xmlns:a16="http://schemas.microsoft.com/office/drawing/2014/main" id="{04DBC1FB-D10A-44CF-8798-3E7CC413689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8029" y="1967906"/>
            <a:ext cx="1280160" cy="1280160"/>
          </a:xfrm>
        </p:spPr>
      </p:pic>
      <p:pic>
        <p:nvPicPr>
          <p:cNvPr id="48" name="Picture Placeholder 47" descr="Team member headshot">
            <a:extLst>
              <a:ext uri="{FF2B5EF4-FFF2-40B4-BE49-F238E27FC236}">
                <a16:creationId xmlns:a16="http://schemas.microsoft.com/office/drawing/2014/main" id="{71977EEE-33B6-4EBF-BF4C-6B4A4D43C96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1497" y="1967906"/>
            <a:ext cx="1280160" cy="1280160"/>
          </a:xfrm>
        </p:spPr>
      </p:pic>
      <p:pic>
        <p:nvPicPr>
          <p:cNvPr id="50" name="Picture Placeholder 49" descr="Team member headshot">
            <a:extLst>
              <a:ext uri="{FF2B5EF4-FFF2-40B4-BE49-F238E27FC236}">
                <a16:creationId xmlns:a16="http://schemas.microsoft.com/office/drawing/2014/main" id="{59C61DD6-0BE1-46F7-A4F8-BD9EFE3B55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4965" y="1967906"/>
            <a:ext cx="1280160" cy="1280160"/>
          </a:xfrm>
        </p:spPr>
      </p:pic>
      <p:pic>
        <p:nvPicPr>
          <p:cNvPr id="52" name="Picture Placeholder 51" descr="Team member headshot">
            <a:extLst>
              <a:ext uri="{FF2B5EF4-FFF2-40B4-BE49-F238E27FC236}">
                <a16:creationId xmlns:a16="http://schemas.microsoft.com/office/drawing/2014/main" id="{4692FD57-18DB-44F7-8A70-3380EC2B106B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8433" y="1967906"/>
            <a:ext cx="1280160" cy="1280160"/>
          </a:xfrm>
        </p:spPr>
      </p:pic>
      <p:pic>
        <p:nvPicPr>
          <p:cNvPr id="62" name="Picture Placeholder 61" descr="Team member headshot">
            <a:extLst>
              <a:ext uri="{FF2B5EF4-FFF2-40B4-BE49-F238E27FC236}">
                <a16:creationId xmlns:a16="http://schemas.microsoft.com/office/drawing/2014/main" id="{1DADE970-4263-41A9-B28A-6BC414B28F04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91901" y="1967906"/>
            <a:ext cx="1280160" cy="1280160"/>
          </a:xfrm>
        </p:spPr>
      </p:pic>
      <p:pic>
        <p:nvPicPr>
          <p:cNvPr id="64" name="Picture Placeholder 63" descr="Team member headshot">
            <a:extLst>
              <a:ext uri="{FF2B5EF4-FFF2-40B4-BE49-F238E27FC236}">
                <a16:creationId xmlns:a16="http://schemas.microsoft.com/office/drawing/2014/main" id="{4608A723-956A-4138-BCDE-A22C757D359A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5369" y="1967906"/>
            <a:ext cx="1280160" cy="1280160"/>
          </a:xfrm>
        </p:spPr>
      </p:pic>
      <p:pic>
        <p:nvPicPr>
          <p:cNvPr id="66" name="Picture Placeholder 65" descr="Team member headshot">
            <a:extLst>
              <a:ext uri="{FF2B5EF4-FFF2-40B4-BE49-F238E27FC236}">
                <a16:creationId xmlns:a16="http://schemas.microsoft.com/office/drawing/2014/main" id="{A36D9415-D0AA-4520-9ABD-7F0F03D5ED20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78838" y="1967906"/>
            <a:ext cx="1280160" cy="128016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38D991-A117-4667-9237-26ABBE68124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9551" y="3921355"/>
            <a:ext cx="1839807" cy="422721"/>
          </a:xfrm>
        </p:spPr>
        <p:txBody>
          <a:bodyPr/>
          <a:lstStyle/>
          <a:p>
            <a:r>
              <a:rPr lang="en-US" dirty="0"/>
              <a:t>Takuma Hayashi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B16D4-80A7-444B-AB12-9F54ACB0C37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9551" y="4354090"/>
            <a:ext cx="1839807" cy="365125"/>
          </a:xfrm>
        </p:spPr>
        <p:txBody>
          <a:bodyPr/>
          <a:lstStyle/>
          <a:p>
            <a:r>
              <a:rPr lang="en-US" dirty="0"/>
              <a:t>President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335D69-CE89-43D5-A432-32F9E3E2717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40191" y="3921355"/>
            <a:ext cx="1839807" cy="422721"/>
          </a:xfrm>
        </p:spPr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766917-A3DA-45A0-91F0-BA8868A0C3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240191" y="4354090"/>
            <a:ext cx="1839807" cy="365125"/>
          </a:xfrm>
        </p:spPr>
        <p:txBody>
          <a:bodyPr/>
          <a:lstStyle/>
          <a:p>
            <a:r>
              <a:rPr lang="en-US" dirty="0"/>
              <a:t>Chief Operations Officer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231058-78AC-4568-8DAA-F1B98F40287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20831" y="3921355"/>
            <a:ext cx="1839807" cy="422721"/>
          </a:xfrm>
        </p:spPr>
        <p:txBody>
          <a:bodyPr/>
          <a:lstStyle/>
          <a:p>
            <a:r>
              <a:rPr lang="en-US" dirty="0"/>
              <a:t>Graham Barnes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BEE29A-602A-408E-9154-1E963B7932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20831" y="4354090"/>
            <a:ext cx="1839807" cy="365125"/>
          </a:xfrm>
        </p:spPr>
        <p:txBody>
          <a:bodyPr/>
          <a:lstStyle/>
          <a:p>
            <a:r>
              <a:rPr lang="en-US" dirty="0"/>
              <a:t>VP Product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6A4620-4888-4685-8E5E-B8424F81E0A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401471" y="3921355"/>
            <a:ext cx="1839807" cy="422721"/>
          </a:xfrm>
        </p:spPr>
        <p:txBody>
          <a:bodyPr/>
          <a:lstStyle/>
          <a:p>
            <a:r>
              <a:rPr lang="en-US" dirty="0"/>
              <a:t>Elizabeth Moore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9D4AC97-B4FE-496B-A5D9-E63E455401C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401471" y="4354090"/>
            <a:ext cx="1839807" cy="365125"/>
          </a:xfrm>
        </p:spPr>
        <p:txBody>
          <a:bodyPr/>
          <a:lstStyle/>
          <a:p>
            <a:r>
              <a:rPr lang="en-US" dirty="0"/>
              <a:t>Product Designer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37A2F49-4F1D-4302-A1AB-5BA001C898D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949871" y="5183351"/>
            <a:ext cx="1839807" cy="422721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95C6AE-9E1C-4212-A8BA-B23BE99433F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949871" y="5616086"/>
            <a:ext cx="1839807" cy="365125"/>
          </a:xfrm>
        </p:spPr>
        <p:txBody>
          <a:bodyPr>
            <a:normAutofit/>
          </a:bodyPr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1B7CE36-B797-4C37-A9C0-A80924686B3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30511" y="5183351"/>
            <a:ext cx="1839807" cy="422721"/>
          </a:xfrm>
        </p:spPr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643889A-B10A-4040-A4FD-8A24F2D58C7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30511" y="5616086"/>
            <a:ext cx="1839807" cy="365125"/>
          </a:xfrm>
        </p:spPr>
        <p:txBody>
          <a:bodyPr/>
          <a:lstStyle/>
          <a:p>
            <a:r>
              <a:rPr lang="en-US" dirty="0"/>
              <a:t>VP Marketing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36476EF-EA1D-4BF0-A41F-6F55E8FCEF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11151" y="5183351"/>
            <a:ext cx="1839807" cy="422721"/>
          </a:xfrm>
        </p:spPr>
        <p:txBody>
          <a:bodyPr/>
          <a:lstStyle/>
          <a:p>
            <a:r>
              <a:rPr lang="en-US" dirty="0"/>
              <a:t>Rowan Murphy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C213551-7A7E-483B-83F7-28442B8F904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7111151" y="5616086"/>
            <a:ext cx="1839807" cy="365125"/>
          </a:xfrm>
        </p:spPr>
        <p:txBody>
          <a:bodyPr/>
          <a:lstStyle/>
          <a:p>
            <a:r>
              <a:rPr lang="en-US" dirty="0"/>
              <a:t>SEO Strategist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CFEC390-68A5-40E6-BEA7-D08876E2EF8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691791" y="5183351"/>
            <a:ext cx="1839807" cy="422721"/>
          </a:xfrm>
        </p:spPr>
        <p:txBody>
          <a:bodyPr/>
          <a:lstStyle/>
          <a:p>
            <a:r>
              <a:rPr lang="en-US" dirty="0"/>
              <a:t>Robin Kline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880544E-D737-4B3B-BAFE-ECC5674D0F4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691791" y="5616086"/>
            <a:ext cx="1839807" cy="365125"/>
          </a:xfrm>
        </p:spPr>
        <p:txBody>
          <a:bodyPr/>
          <a:lstStyle/>
          <a:p>
            <a:r>
              <a:rPr lang="en-US" dirty="0"/>
              <a:t>Content Developer</a:t>
            </a:r>
          </a:p>
        </p:txBody>
      </p:sp>
      <p:sp>
        <p:nvSpPr>
          <p:cNvPr id="93" name="Footer Placeholder 92">
            <a:extLst>
              <a:ext uri="{FF2B5EF4-FFF2-40B4-BE49-F238E27FC236}">
                <a16:creationId xmlns:a16="http://schemas.microsoft.com/office/drawing/2014/main" id="{FAC2ECD6-E2AE-42C8-9D05-FFBDEDF4D6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4" name="Slide Number Placeholder 93">
            <a:extLst>
              <a:ext uri="{FF2B5EF4-FFF2-40B4-BE49-F238E27FC236}">
                <a16:creationId xmlns:a16="http://schemas.microsoft.com/office/drawing/2014/main" id="{EF020547-488B-4A89-9D11-BCAB84CE3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vert="horz" lIns="0" tIns="45720" rIns="91440" bIns="45720" rtlCol="0" anchor="t">
            <a:normAutofit fontScale="92500"/>
          </a:bodyPr>
          <a:lstStyle/>
          <a:p>
            <a:r>
              <a:rPr lang="en-US" dirty="0"/>
              <a:t>At Contoso, we believe in giving 110%. By </a:t>
            </a:r>
            <a:r>
              <a:rPr lang="en-ZA" dirty="0"/>
              <a:t>finding new ways to engage with customers from across the globe, we’re disrupting the online shopping landscape and </a:t>
            </a:r>
            <a:r>
              <a:rPr lang="en-US" dirty="0"/>
              <a:t>fostering a consumer-first mindset. We thrive because of our market knowledge and a great team behind our product. As our CEO says, "Efficiencies will come from proactively transforming how we do business."</a:t>
            </a:r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18B073-7FC8-4AF7-9838-05528CF0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971" y="6356350"/>
            <a:ext cx="2372881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pic>
        <p:nvPicPr>
          <p:cNvPr id="7" name="Picture Placeholder 6" descr="A woman putting a dress on a clothing mannequin in a clothing boutique. ">
            <a:extLst>
              <a:ext uri="{FF2B5EF4-FFF2-40B4-BE49-F238E27FC236}">
                <a16:creationId xmlns:a16="http://schemas.microsoft.com/office/drawing/2014/main" id="{3AAC5E4A-4D3B-4380-AAAC-5C44641AD52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4640" y="0"/>
            <a:ext cx="5547360" cy="6858000"/>
          </a:xfr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487DD97-BF4A-479A-843F-3BF5E7D3CE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</p:spPr>
        <p:txBody>
          <a:bodyPr/>
          <a:lstStyle/>
          <a:p>
            <a:r>
              <a:rPr lang="en-US" dirty="0"/>
              <a:t>WE HELP BUSINESSES GROW AND NURTURE A CONSUMER-FIRST MINDSET.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C5DD987-D8F4-4ECB-9385-50D7771B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woman shopping in a clothing boutique. ">
            <a:extLst>
              <a:ext uri="{FF2B5EF4-FFF2-40B4-BE49-F238E27FC236}">
                <a16:creationId xmlns:a16="http://schemas.microsoft.com/office/drawing/2014/main" id="{830982DC-181F-4404-B1E7-68CBBB6562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1921" y="536574"/>
            <a:ext cx="7780020" cy="578485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4446270" cy="1874837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858" y="3779212"/>
            <a:ext cx="1708784" cy="1156332"/>
          </a:xfrm>
        </p:spPr>
        <p:txBody>
          <a:bodyPr>
            <a:normAutofit/>
          </a:bodyPr>
          <a:lstStyle/>
          <a:p>
            <a:r>
              <a:rPr lang="en-US" dirty="0"/>
              <a:t>Mirjam Nilsson​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81FE1-3C17-4589-81D6-8580840DA54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145858" y="5579334"/>
            <a:ext cx="1708784" cy="1116118"/>
          </a:xfrm>
        </p:spPr>
        <p:txBody>
          <a:bodyPr/>
          <a:lstStyle/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3FE871-0072-4E75-B1B8-B4BCF7C6DE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376" y="3264408"/>
            <a:ext cx="1993392" cy="1993392"/>
          </a:xfrm>
        </p:spPr>
        <p:txBody>
          <a:bodyPr/>
          <a:lstStyle/>
          <a:p>
            <a:r>
              <a:rPr lang="en-US" dirty="0"/>
              <a:t>WE HELP BUSINESSES GROW AND NURTURE A CONSUMER-FIRST MINDSET.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EAE4"/>
      </a:accent1>
      <a:accent2>
        <a:srgbClr val="7C6B62"/>
      </a:accent2>
      <a:accent3>
        <a:srgbClr val="5D4C41"/>
      </a:accent3>
      <a:accent4>
        <a:srgbClr val="AA6256"/>
      </a:accent4>
      <a:accent5>
        <a:srgbClr val="ACC6D8"/>
      </a:accent5>
      <a:accent6>
        <a:srgbClr val="CBA863"/>
      </a:accent6>
      <a:hlink>
        <a:srgbClr val="0563C1"/>
      </a:hlink>
      <a:folHlink>
        <a:srgbClr val="954F72"/>
      </a:folHlink>
    </a:clrScheme>
    <a:fontScheme name="Custom 59">
      <a:majorFont>
        <a:latin typeface="Bodoni MT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ail Pitch Deck_tm33850888_Win32_LW_v2" id="{21D4C133-B138-437B-BFF1-67D24AB9BE6A}" vid="{6567EB89-0C65-46DF-A501-1761A25C7F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4C90E-53ED-40E8-9D13-49C365FEA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7C25F-C953-4A44-B54A-FC566F91027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0626E9D-6D2C-483A-BB3D-5DFEDA73BA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861</Words>
  <Application>Microsoft Office PowerPoint</Application>
  <PresentationFormat>Widescreen</PresentationFormat>
  <Paragraphs>265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Bodoni MT</vt:lpstr>
      <vt:lpstr>Calibri</vt:lpstr>
      <vt:lpstr>Seaford</vt:lpstr>
      <vt:lpstr>Office Theme</vt:lpstr>
      <vt:lpstr>Pitch deck</vt:lpstr>
      <vt:lpstr>About us</vt:lpstr>
      <vt:lpstr>Problem</vt:lpstr>
      <vt:lpstr>Solution</vt:lpstr>
      <vt:lpstr>Product overview</vt:lpstr>
      <vt:lpstr>Product benefits</vt:lpstr>
      <vt:lpstr>Company overview</vt:lpstr>
      <vt:lpstr>Business model</vt:lpstr>
      <vt:lpstr>Market overview</vt:lpstr>
      <vt:lpstr>Market comparison</vt:lpstr>
      <vt:lpstr>Our competition</vt:lpstr>
      <vt:lpstr>Our competition </vt:lpstr>
      <vt:lpstr>Growth strategy</vt:lpstr>
      <vt:lpstr>Two-year action plan</vt:lpstr>
      <vt:lpstr>Financials</vt:lpstr>
      <vt:lpstr>Meet the team</vt:lpstr>
      <vt:lpstr>Meet the full team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/>
  <cp:lastModifiedBy>Avijit Samanta</cp:lastModifiedBy>
  <cp:revision>2</cp:revision>
  <dcterms:created xsi:type="dcterms:W3CDTF">2026-02-21T10:10:54Z</dcterms:created>
  <dcterms:modified xsi:type="dcterms:W3CDTF">2026-02-21T11:28:30Z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