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76127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768983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031295"/>
            <a:ext cx="43403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Pitch Deck 2026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654783"/>
            <a:ext cx="4340358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</a:rPr>
              <a:t>Neighborhood</a:t>
            </a:r>
            <a:pPr algn="l" indent="0" marL="0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5200"/>
              </a:lnSpc>
              <a:buNone/>
            </a:pPr>
            <a:r>
              <a:rPr lang="en-US" sz="4353" b="1" i="1" dirty="0">
                <a:solidFill>
                  <a:srgbClr val="1A1A1A"/>
                </a:solidFill>
              </a:rPr>
              <a:t>Bites</a:t>
            </a:r>
            <a:endParaRPr lang="en-US" sz="4353" dirty="0"/>
          </a:p>
        </p:txBody>
      </p:sp>
      <p:sp>
        <p:nvSpPr>
          <p:cNvPr id="7" name="Text 4"/>
          <p:cNvSpPr/>
          <p:nvPr/>
        </p:nvSpPr>
        <p:spPr>
          <a:xfrm>
            <a:off x="428625" y="3460700"/>
            <a:ext cx="2571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Bringing Gourmet Street Food to Your Doorstep.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4768983" y="0"/>
            <a:ext cx="4375017" cy="5143500"/>
          </a:xfrm>
          <a:prstGeom prst="rect">
            <a:avLst/>
          </a:prstGeom>
          <a:solidFill>
            <a:srgbClr val="DAD7CD"/>
          </a:solidFill>
          <a:ln/>
        </p:spPr>
      </p:sp>
      <p:sp>
        <p:nvSpPr>
          <p:cNvPr id="9" name="Text 6"/>
          <p:cNvSpPr/>
          <p:nvPr/>
        </p:nvSpPr>
        <p:spPr>
          <a:xfrm>
            <a:off x="5197608" y="1701105"/>
            <a:ext cx="39463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Founder &amp; CEO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197608" y="1990427"/>
            <a:ext cx="39463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A5A40"/>
                </a:solidFill>
              </a:rPr>
              <a:t>Redefining Urban Dining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197608" y="2688729"/>
            <a:ext cx="3946392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i="1" dirty="0">
                <a:solidFill>
                  <a:srgbClr val="3A5A40">
                    <a:alpha val="10000"/>
                  </a:srgbClr>
                </a:solidFill>
              </a:rPr>
              <a:t>Fresh.</a:t>
            </a:r>
            <a:endParaRPr lang="en-US" sz="621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902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11879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68896"/>
            <a:ext cx="3086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The Challenge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722369"/>
            <a:ext cx="3086100" cy="192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The </a:t>
            </a:r>
            <a:pPr algn="l" indent="0" marL="0">
              <a:lnSpc>
                <a:spcPts val="3800"/>
              </a:lnSpc>
              <a:buNone/>
            </a:pPr>
            <a:r>
              <a:rPr lang="en-US" sz="2862" b="1" i="1" dirty="0">
                <a:solidFill>
                  <a:srgbClr val="1A1A1A"/>
                </a:solidFill>
              </a:rPr>
              <a:t>"Food Desert"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 in Busy 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Residential 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Hubs</a:t>
            </a:r>
            <a:endParaRPr lang="en-US" sz="2862" dirty="0"/>
          </a:p>
        </p:txBody>
      </p:sp>
      <p:sp>
        <p:nvSpPr>
          <p:cNvPr id="7" name="Text 4"/>
          <p:cNvSpPr/>
          <p:nvPr/>
        </p:nvSpPr>
        <p:spPr>
          <a:xfrm>
            <a:off x="4086225" y="36500"/>
            <a:ext cx="46291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i="1" dirty="0">
                <a:solidFill>
                  <a:srgbClr val="DAD7CD"/>
                </a:solidFill>
              </a:rPr>
              <a:t>01</a:t>
            </a:r>
            <a:endParaRPr lang="en-US" sz="2592" dirty="0"/>
          </a:p>
        </p:txBody>
      </p:sp>
      <p:sp>
        <p:nvSpPr>
          <p:cNvPr id="8" name="Text 5"/>
          <p:cNvSpPr/>
          <p:nvPr/>
        </p:nvSpPr>
        <p:spPr>
          <a:xfrm>
            <a:off x="4086225" y="538349"/>
            <a:ext cx="4629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5A40"/>
                </a:solidFill>
              </a:rPr>
              <a:t>Limited Culinary Diversity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086225" y="900894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High-density residential areas often lack diverse, high-quality dining options within walking distance, forcing residents to settle for generic fast food.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086225" y="1726667"/>
            <a:ext cx="46291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i="1" dirty="0">
                <a:solidFill>
                  <a:srgbClr val="DAD7CD"/>
                </a:solidFill>
              </a:rPr>
              <a:t>02</a:t>
            </a:r>
            <a:endParaRPr lang="en-US" sz="2592" dirty="0"/>
          </a:p>
        </p:txBody>
      </p:sp>
      <p:sp>
        <p:nvSpPr>
          <p:cNvPr id="11" name="Text 8"/>
          <p:cNvSpPr/>
          <p:nvPr/>
        </p:nvSpPr>
        <p:spPr>
          <a:xfrm>
            <a:off x="4086225" y="2228515"/>
            <a:ext cx="4629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5A40"/>
                </a:solidFill>
              </a:rPr>
              <a:t>The Convenience Gap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086225" y="2591060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Remote workers and busy commuters struggle to find fresh, healthy meals without long drives or expensive, slow delivery services.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086225" y="3416833"/>
            <a:ext cx="46291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i="1" dirty="0">
                <a:solidFill>
                  <a:srgbClr val="DAD7CD"/>
                </a:solidFill>
              </a:rPr>
              <a:t>03</a:t>
            </a:r>
            <a:endParaRPr lang="en-US" sz="2592" dirty="0"/>
          </a:p>
        </p:txBody>
      </p:sp>
      <p:sp>
        <p:nvSpPr>
          <p:cNvPr id="14" name="Text 11"/>
          <p:cNvSpPr/>
          <p:nvPr/>
        </p:nvSpPr>
        <p:spPr>
          <a:xfrm>
            <a:off x="4086225" y="3918682"/>
            <a:ext cx="4629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5A40"/>
                </a:solidFill>
              </a:rPr>
              <a:t>Erosion of Community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086225" y="4281227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Traditional dining lacks a personal connection to the local neighborhood, missing opportunities for social interaction and community building.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35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428750"/>
            <a:ext cx="914400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3295"/>
            <a:ext cx="8715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The Solution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619358"/>
            <a:ext cx="8715375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Hyperlocal Dining: The </a:t>
            </a:r>
            <a:pPr algn="l" indent="0" marL="0">
              <a:lnSpc>
                <a:spcPts val="3200"/>
              </a:lnSpc>
              <a:buNone/>
            </a:pPr>
            <a:r>
              <a:rPr lang="en-US" sz="2436" b="1" i="1" dirty="0">
                <a:solidFill>
                  <a:srgbClr val="1A1A1A"/>
                </a:solidFill>
              </a:rPr>
              <a:t>Future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of Urban Food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2014538"/>
            <a:ext cx="21859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A5A40"/>
                </a:solidFill>
              </a:rPr>
              <a:t>Hyperlocal Focus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28625" y="2493169"/>
            <a:ext cx="2185988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A rotating food truck model that integrates deeply with local communities, offering menus tailored to the specific tastes and demographics of each neighborhood.</a:t>
            </a:r>
            <a:endParaRPr lang="en-US" sz="888" dirty="0"/>
          </a:p>
        </p:txBody>
      </p:sp>
      <p:sp>
        <p:nvSpPr>
          <p:cNvPr id="9" name="Shape 6"/>
          <p:cNvSpPr/>
          <p:nvPr/>
        </p:nvSpPr>
        <p:spPr>
          <a:xfrm>
            <a:off x="3050381" y="1428750"/>
            <a:ext cx="3050381" cy="3714750"/>
          </a:xfrm>
          <a:prstGeom prst="rect">
            <a:avLst/>
          </a:prstGeom>
          <a:solidFill>
            <a:srgbClr val="DAD7CD"/>
          </a:solidFill>
          <a:ln/>
        </p:spPr>
      </p:sp>
      <p:sp>
        <p:nvSpPr>
          <p:cNvPr id="10" name="Shape 7"/>
          <p:cNvSpPr/>
          <p:nvPr/>
        </p:nvSpPr>
        <p:spPr>
          <a:xfrm>
            <a:off x="6093619" y="1428750"/>
            <a:ext cx="7144" cy="3714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3481378" y="2014538"/>
            <a:ext cx="21883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A5A40"/>
                </a:solidFill>
              </a:rPr>
              <a:t>Sustainability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3481378" y="2493169"/>
            <a:ext cx="2188359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Commitment to zero-waste with 100% compostable packaging and electric-powered kitchen equipment, minimizing our environmental footprint.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526988" y="2014538"/>
            <a:ext cx="21883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A5A40"/>
                </a:solidFill>
              </a:rPr>
              <a:t>Community Integration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6526988" y="2493169"/>
            <a:ext cx="2188359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Beyond food, we serve as a neighborhood hub, fostering social interaction through local events and neighborhood-specific engagement.</a:t>
            </a:r>
            <a:endParaRPr lang="en-US" sz="8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361259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354116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3971"/>
            <a:ext cx="3929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Market Analysis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003725"/>
            <a:ext cx="3929063" cy="817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A </a:t>
            </a:r>
            <a:pPr algn="l" indent="0" marL="0">
              <a:lnSpc>
                <a:spcPts val="3200"/>
              </a:lnSpc>
              <a:buNone/>
            </a:pPr>
            <a:r>
              <a:rPr lang="en-US" sz="2649" b="1" i="1" dirty="0">
                <a:solidFill>
                  <a:srgbClr val="1A1A1A"/>
                </a:solidFill>
              </a:rPr>
              <a:t>$4.2 Billion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 Market 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Opportunity</a:t>
            </a:r>
            <a:endParaRPr lang="en-US" sz="2649" dirty="0"/>
          </a:p>
        </p:txBody>
      </p:sp>
      <p:sp>
        <p:nvSpPr>
          <p:cNvPr id="7" name="Text 4"/>
          <p:cNvSpPr/>
          <p:nvPr/>
        </p:nvSpPr>
        <p:spPr>
          <a:xfrm>
            <a:off x="428625" y="2035271"/>
            <a:ext cx="3929063" cy="816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353" b="1" dirty="0">
                <a:solidFill>
                  <a:srgbClr val="3A5A40"/>
                </a:solidFill>
              </a:rPr>
              <a:t>$4.2B</a:t>
            </a:r>
            <a:endParaRPr lang="en-US" sz="4353" dirty="0"/>
          </a:p>
        </p:txBody>
      </p:sp>
      <p:sp>
        <p:nvSpPr>
          <p:cNvPr id="8" name="Text 5"/>
          <p:cNvSpPr/>
          <p:nvPr/>
        </p:nvSpPr>
        <p:spPr>
          <a:xfrm>
            <a:off x="428625" y="2922882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1A1A1A"/>
                </a:solidFill>
              </a:rPr>
              <a:t>Projected Market Size by 2026</a:t>
            </a:r>
            <a:endParaRPr lang="en-US" sz="942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240779"/>
            <a:ext cx="3925491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86313" y="540972"/>
            <a:ext cx="39290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A5A40"/>
                </a:solidFill>
              </a:rPr>
              <a:t>Target Audience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4786313" y="857083"/>
            <a:ext cx="3929063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Primarily Gen Z and Millennials who prioritize sustainability, local sourcing, and unique culinary experiences. This demographic represents 40% of total food spending.</a:t>
            </a:r>
            <a:endParaRPr lang="en-US" sz="888" dirty="0"/>
          </a:p>
        </p:txBody>
      </p:sp>
      <p:sp>
        <p:nvSpPr>
          <p:cNvPr id="12" name="Text 8"/>
          <p:cNvSpPr/>
          <p:nvPr/>
        </p:nvSpPr>
        <p:spPr>
          <a:xfrm>
            <a:off x="4786313" y="1990065"/>
            <a:ext cx="39290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A5A40"/>
                </a:solidFill>
              </a:rPr>
              <a:t>Trend Alignment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4786313" y="2306176"/>
            <a:ext cx="3929063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Capitalizing on the "15-minute city" urban planning trend, where residents expect high-quality services and dining within a short walk from their homes.</a:t>
            </a:r>
            <a:endParaRPr lang="en-US" sz="888" dirty="0"/>
          </a:p>
        </p:txBody>
      </p:sp>
      <p:sp>
        <p:nvSpPr>
          <p:cNvPr id="14" name="Text 10"/>
          <p:cNvSpPr/>
          <p:nvPr/>
        </p:nvSpPr>
        <p:spPr>
          <a:xfrm>
            <a:off x="4786313" y="3439158"/>
            <a:ext cx="39290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A5A40"/>
                </a:solidFill>
              </a:rPr>
              <a:t>Growth Potential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4786313" y="3755268"/>
            <a:ext cx="3929063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The mobile food service industry is projected to grow at a 6.5% CAGR through 2026, driven by the demand for convenience and artisanal quality.</a:t>
            </a:r>
            <a:endParaRPr lang="en-US" sz="8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902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11879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68896"/>
            <a:ext cx="3086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Revenue &amp; Tech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722369"/>
            <a:ext cx="3086100" cy="192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The </a:t>
            </a:r>
            <a:pPr algn="l" indent="0" marL="0">
              <a:lnSpc>
                <a:spcPts val="3800"/>
              </a:lnSpc>
              <a:buNone/>
            </a:pPr>
            <a:r>
              <a:rPr lang="en-US" sz="2862" b="1" i="1" dirty="0">
                <a:solidFill>
                  <a:srgbClr val="1A1A1A"/>
                </a:solidFill>
              </a:rPr>
              <a:t>"Neighborhood Bites"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 Business 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Model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3514725" y="0"/>
            <a:ext cx="5629275" cy="5143500"/>
          </a:xfrm>
          <a:prstGeom prst="rect">
            <a:avLst/>
          </a:prstGeom>
          <a:solidFill>
            <a:srgbClr val="DAD7CD"/>
          </a:solidFill>
          <a:ln/>
        </p:spPr>
      </p:sp>
      <p:sp>
        <p:nvSpPr>
          <p:cNvPr id="8" name="Text 5"/>
          <p:cNvSpPr/>
          <p:nvPr/>
        </p:nvSpPr>
        <p:spPr>
          <a:xfrm>
            <a:off x="4086225" y="728551"/>
            <a:ext cx="4629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5A40"/>
                </a:solidFill>
              </a:rPr>
              <a:t>Diversified Revenue Streams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086225" y="1091096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Daily street sales (60%), private catering (25%), and community events (15%) ensure a stable and scalable income model.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086225" y="2038313"/>
            <a:ext cx="4629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5A40"/>
                </a:solidFill>
              </a:rPr>
              <a:t>"Bites Pass" Subscription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086225" y="2400858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A recurring revenue model offering regular customers exclusive discounts, priority ordering, and neighborhood-specific perks.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086225" y="3348075"/>
            <a:ext cx="4629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5A40"/>
                </a:solidFill>
              </a:rPr>
              <a:t>Proprietary Tech Integration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086225" y="3710620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Our custom app features real-time truck tracking, pre-ordering, and AI-driven demand forecasting to optimize operations.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902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11879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85053"/>
            <a:ext cx="3086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The Menu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691115"/>
            <a:ext cx="30861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Globally Inspired, </a:t>
            </a:r>
            <a:pPr algn="l" indent="0" marL="0">
              <a:lnSpc>
                <a:spcPts val="3200"/>
              </a:lnSpc>
              <a:buNone/>
            </a:pPr>
            <a:r>
              <a:rPr lang="en-US" sz="2436" b="1" i="1" dirty="0">
                <a:solidFill>
                  <a:srgbClr val="1A1A1A"/>
                </a:solidFill>
              </a:rPr>
              <a:t>Locally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Sourced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2856942"/>
            <a:ext cx="3086100" cy="97288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Our culinary philosophy is simple: 70% of our ingredients are sourced from farms within a 50-mile radius, ensuring peak freshness and supporting the local economy.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3514725" y="0"/>
            <a:ext cx="5629275" cy="5143500"/>
          </a:xfrm>
          <a:prstGeom prst="rect">
            <a:avLst/>
          </a:prstGeom>
          <a:solidFill>
            <a:srgbClr val="DAD7C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727770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0550" y="817066"/>
            <a:ext cx="43148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The Local Hero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4400550" y="1145679"/>
            <a:ext cx="431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Grass-fed beef burger topped with artisanal aged cheddar, caramelized onions, and house-made aioli on a brioche bun.</a:t>
            </a:r>
            <a:endParaRPr lang="en-US" sz="83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25" y="1920776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00550" y="2010073"/>
            <a:ext cx="43148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Urban Garden Bowl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4400550" y="2338685"/>
            <a:ext cx="431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Roasted seasonal vegetables, quinoa, and local microgreens drizzled with a wild ramp pesto dressing.</a:t>
            </a:r>
            <a:endParaRPr lang="en-US" sz="834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225" y="3113782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00550" y="3203079"/>
            <a:ext cx="43148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Seasonal Rotation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4400550" y="3531691"/>
            <a:ext cx="431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Our menu evolves every 90 days to celebrate the harvest of the season, bringing new global flavors to your neighborhood.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4400550" y="4060329"/>
            <a:ext cx="1554798" cy="173236"/>
          </a:xfrm>
          <a:prstGeom prst="rect">
            <a:avLst/>
          </a:prstGeom>
          <a:solidFill>
            <a:srgbClr val="3A5A40"/>
          </a:solidFill>
          <a:ln/>
        </p:spPr>
      </p:sp>
      <p:sp>
        <p:nvSpPr>
          <p:cNvPr id="19" name="Text 13"/>
          <p:cNvSpPr/>
          <p:nvPr/>
        </p:nvSpPr>
        <p:spPr>
          <a:xfrm>
            <a:off x="4400550" y="4060329"/>
            <a:ext cx="1554798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FFFF"/>
                </a:solidFill>
              </a:rPr>
              <a:t>New Menu Every Quarter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902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11879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61207"/>
            <a:ext cx="3086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Growth Strategy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790960"/>
            <a:ext cx="3086100" cy="178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Strategic </a:t>
            </a:r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Marketing &amp; </a:t>
            </a:r>
            <a:pPr algn="l" indent="0" marL="0">
              <a:lnSpc>
                <a:spcPts val="3500"/>
              </a:lnSpc>
              <a:buNone/>
            </a:pPr>
            <a:r>
              <a:rPr lang="en-US" sz="2649" b="1" i="1" dirty="0">
                <a:solidFill>
                  <a:srgbClr val="1A1A1A"/>
                </a:solidFill>
              </a:rPr>
              <a:t>Community</a:t>
            </a:r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 Engagement</a:t>
            </a:r>
            <a:endParaRPr lang="en-US" sz="264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701873"/>
            <a:ext cx="20002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86288" y="778669"/>
            <a:ext cx="41290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Social-First Discovery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4586288" y="1114425"/>
            <a:ext cx="41290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Real-time location updates and "Menu Polls" where residents vote on next week's specials, driving high engagement and anticipation.</a:t>
            </a:r>
            <a:endParaRPr lang="en-US" sz="888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25" y="200203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86288" y="2078831"/>
            <a:ext cx="41290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"Community Points" Loyalty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4586288" y="2414588"/>
            <a:ext cx="41290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Points earned for every purchase are redeemable for free meals or can be donated to local neighborhood charities, fostering brand affinity.</a:t>
            </a:r>
            <a:endParaRPr lang="en-US" sz="888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225" y="3302198"/>
            <a:ext cx="28575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6288" y="3378994"/>
            <a:ext cx="41290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Hyperlocal Partnerships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4586288" y="3714750"/>
            <a:ext cx="41290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Collaborations with local breweries and neighborhood associations for "Block Party" events, embedding our brand into the local social fabric.</a:t>
            </a:r>
            <a:endParaRPr lang="en-US" sz="8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902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11879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408909"/>
            <a:ext cx="3086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The Engine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962383"/>
            <a:ext cx="3086100" cy="144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Operational </a:t>
            </a:r>
            <a:pPr algn="l" indent="0" marL="0">
              <a:lnSpc>
                <a:spcPts val="3800"/>
              </a:lnSpc>
              <a:buNone/>
            </a:pPr>
            <a:r>
              <a:rPr lang="en-US" sz="2862" b="1" i="1" dirty="0">
                <a:solidFill>
                  <a:srgbClr val="1A1A1A"/>
                </a:solidFill>
              </a:rPr>
              <a:t>Excellence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 &amp; 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Scalability</a:t>
            </a:r>
            <a:endParaRPr lang="en-US" sz="2862" dirty="0"/>
          </a:p>
        </p:txBody>
      </p:sp>
      <p:sp>
        <p:nvSpPr>
          <p:cNvPr id="7" name="Text 4"/>
          <p:cNvSpPr/>
          <p:nvPr/>
        </p:nvSpPr>
        <p:spPr>
          <a:xfrm>
            <a:off x="4086225" y="679438"/>
            <a:ext cx="4629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A5A40"/>
                </a:solidFill>
              </a:rPr>
              <a:t>Fleet Management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086225" y="1022338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Centralized "Cloud Kitchen" for all prep work, ensuring culinary consistency and quality control across the entire fleet of trucks.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086225" y="2055279"/>
            <a:ext cx="4629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A5A40"/>
                </a:solidFill>
              </a:rPr>
              <a:t>Logistics &amp; AI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086225" y="2398179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AI-driven route optimization to maximize foot traffic, minimize fuel consumption, and adapt to real-time neighborhood demand patterns.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086225" y="3431121"/>
            <a:ext cx="4629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A5A40"/>
                </a:solidFill>
              </a:rPr>
              <a:t>Modular Scalability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086225" y="3774021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Standardized truck designs and operational playbooks allow for rapid expansion into new urban hubs with minimal overhead.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902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11879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6618"/>
            <a:ext cx="3086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The Numbers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616372"/>
            <a:ext cx="3086100" cy="178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Financial </a:t>
            </a:r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Projections: </a:t>
            </a:r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Path to </a:t>
            </a:r>
            <a:pPr algn="l" indent="0" marL="0">
              <a:lnSpc>
                <a:spcPts val="3500"/>
              </a:lnSpc>
              <a:buNone/>
            </a:pPr>
            <a:r>
              <a:rPr lang="en-US" sz="2649" b="1" i="1" dirty="0">
                <a:solidFill>
                  <a:srgbClr val="1A1A1A"/>
                </a:solidFill>
              </a:rPr>
              <a:t>Profitability</a:t>
            </a:r>
            <a:endParaRPr lang="en-US" sz="2649" dirty="0"/>
          </a:p>
        </p:txBody>
      </p:sp>
      <p:sp>
        <p:nvSpPr>
          <p:cNvPr id="7" name="Text 4"/>
          <p:cNvSpPr/>
          <p:nvPr/>
        </p:nvSpPr>
        <p:spPr>
          <a:xfrm>
            <a:off x="428625" y="2613720"/>
            <a:ext cx="30861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3A5A40"/>
                </a:solidFill>
              </a:rPr>
              <a:t>$450K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428625" y="3058418"/>
            <a:ext cx="3086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1A1A1A"/>
                </a:solidFill>
              </a:rPr>
              <a:t>Year 1 Revenue Per Truck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28625" y="3428107"/>
            <a:ext cx="30861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3A5A40"/>
                </a:solidFill>
              </a:rPr>
              <a:t>Month 14</a:t>
            </a:r>
            <a:endParaRPr lang="en-US" sz="2121" dirty="0"/>
          </a:p>
        </p:txBody>
      </p:sp>
      <p:sp>
        <p:nvSpPr>
          <p:cNvPr id="10" name="Text 7"/>
          <p:cNvSpPr/>
          <p:nvPr/>
        </p:nvSpPr>
        <p:spPr>
          <a:xfrm>
            <a:off x="428625" y="3872805"/>
            <a:ext cx="3086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1A1A1A"/>
                </a:solidFill>
              </a:rPr>
              <a:t>Projected Breakeven Point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8625" y="4242495"/>
            <a:ext cx="30861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3A5A40"/>
                </a:solidFill>
              </a:rPr>
              <a:t>$612K</a:t>
            </a:r>
            <a:endParaRPr lang="en-US" sz="2121" dirty="0"/>
          </a:p>
        </p:txBody>
      </p:sp>
      <p:sp>
        <p:nvSpPr>
          <p:cNvPr id="12" name="Text 9"/>
          <p:cNvSpPr/>
          <p:nvPr/>
        </p:nvSpPr>
        <p:spPr>
          <a:xfrm>
            <a:off x="428625" y="4687193"/>
            <a:ext cx="3086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1A1A1A"/>
                </a:solidFill>
              </a:rPr>
              <a:t>Year 3 Target EBITDA</a:t>
            </a:r>
            <a:endParaRPr lang="en-US" sz="834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1143000"/>
            <a:ext cx="4623792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930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285875"/>
            <a:ext cx="9144000" cy="7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1858"/>
            <a:ext cx="8715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Leadership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547920"/>
            <a:ext cx="8715375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The Visionary Team </a:t>
            </a:r>
            <a:pPr algn="l" indent="0" marL="0">
              <a:lnSpc>
                <a:spcPts val="3200"/>
              </a:lnSpc>
              <a:buNone/>
            </a:pPr>
            <a:r>
              <a:rPr lang="en-US" sz="2436" b="1" i="1" dirty="0">
                <a:solidFill>
                  <a:srgbClr val="1A1A1A"/>
                </a:solidFill>
              </a:rPr>
              <a:t>Behind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 the Wheel</a:t>
            </a:r>
            <a:endParaRPr lang="en-US" sz="2436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616273"/>
            <a:ext cx="20002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8625" y="2027039"/>
            <a:ext cx="21859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A5A40"/>
                </a:solidFill>
              </a:rPr>
              <a:t>Founder &amp; CEO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428625" y="2462808"/>
            <a:ext cx="21859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i="1" dirty="0">
                <a:solidFill>
                  <a:srgbClr val="1A1A1A"/>
                </a:solidFill>
              </a:rPr>
              <a:t>Alex Johnson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428625" y="3032522"/>
            <a:ext cx="218598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10+ years in culinary management and tech startups. Former operations lead at a national food delivery platform with a passion for sustainable urban dining.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3050381" y="1285875"/>
            <a:ext cx="3050381" cy="3857625"/>
          </a:xfrm>
          <a:prstGeom prst="rect">
            <a:avLst/>
          </a:prstGeom>
          <a:solidFill>
            <a:srgbClr val="DAD7CD"/>
          </a:solidFill>
          <a:ln/>
        </p:spPr>
      </p:sp>
      <p:sp>
        <p:nvSpPr>
          <p:cNvPr id="12" name="Shape 8"/>
          <p:cNvSpPr/>
          <p:nvPr/>
        </p:nvSpPr>
        <p:spPr>
          <a:xfrm>
            <a:off x="6093619" y="1285875"/>
            <a:ext cx="7144" cy="38576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378" y="1616273"/>
            <a:ext cx="28575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81378" y="2027039"/>
            <a:ext cx="21883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A5A40"/>
                </a:solidFill>
              </a:rPr>
              <a:t>Head of Operations</a:t>
            </a:r>
            <a:endParaRPr lang="en-US" sz="683" dirty="0"/>
          </a:p>
        </p:txBody>
      </p:sp>
      <p:sp>
        <p:nvSpPr>
          <p:cNvPr id="15" name="Text 10"/>
          <p:cNvSpPr/>
          <p:nvPr/>
        </p:nvSpPr>
        <p:spPr>
          <a:xfrm>
            <a:off x="3481378" y="2462808"/>
            <a:ext cx="218835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i="1" dirty="0">
                <a:solidFill>
                  <a:srgbClr val="1A1A1A"/>
                </a:solidFill>
              </a:rPr>
              <a:t>Sarah Chen</a:t>
            </a:r>
            <a:endParaRPr lang="en-US" sz="1602" dirty="0"/>
          </a:p>
        </p:txBody>
      </p:sp>
      <p:sp>
        <p:nvSpPr>
          <p:cNvPr id="16" name="Text 11"/>
          <p:cNvSpPr/>
          <p:nvPr/>
        </p:nvSpPr>
        <p:spPr>
          <a:xfrm>
            <a:off x="3481378" y="3032522"/>
            <a:ext cx="218835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Expert in logistics and supply chain management. Specialized in fleet optimization and sustainable sourcing for high-growth hospitality groups.</a:t>
            </a:r>
            <a:endParaRPr lang="en-US" sz="834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988" y="1616273"/>
            <a:ext cx="200025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26988" y="2027039"/>
            <a:ext cx="21883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A5A40"/>
                </a:solidFill>
              </a:rPr>
              <a:t>Executive Chef</a:t>
            </a:r>
            <a:endParaRPr lang="en-US" sz="683" dirty="0"/>
          </a:p>
        </p:txBody>
      </p:sp>
      <p:sp>
        <p:nvSpPr>
          <p:cNvPr id="19" name="Text 13"/>
          <p:cNvSpPr/>
          <p:nvPr/>
        </p:nvSpPr>
        <p:spPr>
          <a:xfrm>
            <a:off x="6526988" y="2462808"/>
            <a:ext cx="218835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i="1" dirty="0">
                <a:solidFill>
                  <a:srgbClr val="1A1A1A"/>
                </a:solidFill>
              </a:rPr>
              <a:t>Marcus Thorne</a:t>
            </a:r>
            <a:endParaRPr lang="en-US" sz="1602" dirty="0"/>
          </a:p>
        </p:txBody>
      </p:sp>
      <p:sp>
        <p:nvSpPr>
          <p:cNvPr id="20" name="Text 14"/>
          <p:cNvSpPr/>
          <p:nvPr/>
        </p:nvSpPr>
        <p:spPr>
          <a:xfrm>
            <a:off x="6526988" y="3032522"/>
            <a:ext cx="218835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Award-winning chef with a background in Michelin-starred kitchens. Dedicated to bringing farm-to-table excellence to the street food scene.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902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11879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34926"/>
            <a:ext cx="3086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The Ask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364679"/>
            <a:ext cx="3086100" cy="178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Investment </a:t>
            </a:r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Opportunity: </a:t>
            </a:r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1A1A"/>
                </a:solidFill>
              </a:rPr>
              <a:t>Fueling Our </a:t>
            </a:r>
            <a:pPr algn="l" indent="0" marL="0">
              <a:lnSpc>
                <a:spcPts val="3500"/>
              </a:lnSpc>
              <a:buNone/>
            </a:pPr>
            <a:r>
              <a:rPr lang="en-US" sz="2649" b="1" i="1" dirty="0">
                <a:solidFill>
                  <a:srgbClr val="1A1A1A"/>
                </a:solidFill>
              </a:rPr>
              <a:t>Growth</a:t>
            </a:r>
            <a:endParaRPr lang="en-US" sz="2649" dirty="0"/>
          </a:p>
        </p:txBody>
      </p:sp>
      <p:sp>
        <p:nvSpPr>
          <p:cNvPr id="7" name="Text 4"/>
          <p:cNvSpPr/>
          <p:nvPr/>
        </p:nvSpPr>
        <p:spPr>
          <a:xfrm>
            <a:off x="428625" y="3362027"/>
            <a:ext cx="3086100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3A5A40"/>
                </a:solidFill>
              </a:rPr>
              <a:t>$500,000</a:t>
            </a:r>
            <a:endParaRPr lang="en-US" sz="3731" dirty="0"/>
          </a:p>
        </p:txBody>
      </p:sp>
      <p:sp>
        <p:nvSpPr>
          <p:cNvPr id="8" name="Text 5"/>
          <p:cNvSpPr/>
          <p:nvPr/>
        </p:nvSpPr>
        <p:spPr>
          <a:xfrm>
            <a:off x="428625" y="4133552"/>
            <a:ext cx="30861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1A1A1A"/>
                </a:solidFill>
              </a:rPr>
              <a:t>Seed Funding Round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3514725" y="0"/>
            <a:ext cx="5629275" cy="5143500"/>
          </a:xfrm>
          <a:prstGeom prst="rect">
            <a:avLst/>
          </a:prstGeom>
          <a:solidFill>
            <a:srgbClr val="DAD7CD"/>
          </a:solidFill>
          <a:ln/>
        </p:spPr>
      </p:sp>
      <p:sp>
        <p:nvSpPr>
          <p:cNvPr id="10" name="Text 7"/>
          <p:cNvSpPr/>
          <p:nvPr/>
        </p:nvSpPr>
        <p:spPr>
          <a:xfrm>
            <a:off x="4086225" y="938147"/>
            <a:ext cx="46291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A5A40"/>
                </a:solidFill>
              </a:rPr>
              <a:t>Use of Funds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086225" y="1311408"/>
            <a:ext cx="1142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Equipment &amp; Trucks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8481613" y="1311408"/>
            <a:ext cx="2337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50%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086225" y="1523935"/>
            <a:ext cx="4629150" cy="5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086225" y="1723960"/>
            <a:ext cx="11618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Marketing &amp; Launch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8481613" y="1723960"/>
            <a:ext cx="2337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30%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4086225" y="1936486"/>
            <a:ext cx="4629150" cy="5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086225" y="2136511"/>
            <a:ext cx="916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Working Capital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8481613" y="2136511"/>
            <a:ext cx="2337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20%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4086225" y="2349038"/>
            <a:ext cx="4629150" cy="57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086225" y="3270582"/>
            <a:ext cx="46291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A5A40"/>
                </a:solidFill>
              </a:rPr>
              <a:t>Exit Strategy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4086225" y="3643843"/>
            <a:ext cx="462915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1A1A1A"/>
                </a:solidFill>
              </a:rPr>
              <a:t>Our goal is to achieve a 5-truck fleet within 3 years, positioning Neighborhood Bites for acquisition by a major hospitality group or a nationwide franchise expansion.</a:t>
            </a:r>
            <a:endParaRPr lang="en-US" sz="88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557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68428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848292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A5A40"/>
                </a:solidFill>
              </a:rPr>
              <a:t>Contact Us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1506355"/>
            <a:ext cx="40005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Join the 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Neighborhood </a:t>
            </a:r>
            <a:pPr algn="l" indent="0" marL="0">
              <a:lnSpc>
                <a:spcPts val="4000"/>
              </a:lnSpc>
              <a:buNone/>
            </a:pPr>
            <a:r>
              <a:rPr lang="en-US" sz="3294" b="1" i="1" dirty="0">
                <a:solidFill>
                  <a:srgbClr val="1A1A1A"/>
                </a:solidFill>
              </a:rPr>
              <a:t>Revolution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571500" y="3643731"/>
            <a:ext cx="2857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Let's redefine how communities eat.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DAD7C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240334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29250" y="1223367"/>
            <a:ext cx="19688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hello@neighborhoodbites.com</a:t>
            </a:r>
            <a:endParaRPr lang="en-US" sz="88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13595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9250" y="1596628"/>
            <a:ext cx="18966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www.neighborhoodbites.com</a:t>
            </a:r>
            <a:endParaRPr lang="en-US" sz="88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986855"/>
            <a:ext cx="125016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29250" y="1969889"/>
            <a:ext cx="13667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@NeighborhoodBites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5143500" y="3047702"/>
            <a:ext cx="4000500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i="1" dirty="0">
                <a:solidFill>
                  <a:srgbClr val="3A5A40">
                    <a:alpha val="10000"/>
                  </a:srgbClr>
                </a:solidFill>
              </a:rPr>
              <a:t>Local.</a:t>
            </a:r>
            <a:endParaRPr lang="en-US" sz="621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2026-02-15T15:20:26Z</dcterms:created>
  <dcterms:modified xsi:type="dcterms:W3CDTF">2026-02-15T15:20:26Z</dcterms:modified>
</cp:coreProperties>
</file>